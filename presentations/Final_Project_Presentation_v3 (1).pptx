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70" r:id="rId8"/>
    <p:sldId id="271" r:id="rId9"/>
    <p:sldId id="272" r:id="rId10"/>
    <p:sldId id="262" r:id="rId11"/>
    <p:sldId id="263" r:id="rId12"/>
    <p:sldId id="26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1" autoAdjust="0"/>
  </p:normalViewPr>
  <p:slideViewPr>
    <p:cSldViewPr snapToGrid="0" snapToObjects="1">
      <p:cViewPr varScale="1">
        <p:scale>
          <a:sx n="119" d="100"/>
          <a:sy n="119" d="100"/>
        </p:scale>
        <p:origin x="1392"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00" b="0" i="0" u="none" strike="noStrike">
                <a:solidFill>
                  <a:srgbClr val="94A3B8"/>
                </a:solidFill>
                <a:latin typeface="Calibri"/>
              </a:defRPr>
            </a:pPr>
            <a:r>
              <a:rPr lang="en-US" sz="900" b="0" i="0" u="none" strike="noStrike">
                <a:solidFill>
                  <a:srgbClr val="94A3B8"/>
                </a:solidFill>
                <a:latin typeface="Calibri"/>
              </a:rPr>
              <a:t>Approximate sample counts by primary fuel category</a:t>
            </a:r>
          </a:p>
        </c:rich>
      </c:tx>
      <c:overlay val="0"/>
    </c:title>
    <c:autoTitleDeleted val="0"/>
    <c:plotArea>
      <c:layout/>
      <c:barChart>
        <c:barDir val="bar"/>
        <c:grouping val="clustered"/>
        <c:varyColors val="0"/>
        <c:ser>
          <c:idx val="0"/>
          <c:order val="0"/>
          <c:tx>
            <c:strRef>
              <c:f>Sheet1!$B$1</c:f>
              <c:strCache>
                <c:ptCount val="1"/>
                <c:pt idx="0">
                  <c:v>Samples</c:v>
                </c:pt>
              </c:strCache>
            </c:strRef>
          </c:tx>
          <c:spPr>
            <a:solidFill>
              <a:srgbClr val="2DD4BF"/>
            </a:solidFill>
            <a:effectLst/>
          </c:spPr>
          <c:invertIfNegative val="0"/>
          <c:dLbls>
            <c:numFmt formatCode="#,##0" sourceLinked="0"/>
            <c:spPr>
              <a:noFill/>
              <a:ln>
                <a:noFill/>
              </a:ln>
              <a:effectLst/>
            </c:spPr>
            <c:txPr>
              <a:bodyPr/>
              <a:lstStyle/>
              <a:p>
                <a:pPr>
                  <a:defRPr sz="900" b="0" i="0" u="none" strike="noStrike">
                    <a:solidFill>
                      <a:srgbClr val="E2E8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GAS</c:v>
                </c:pt>
                <c:pt idx="1">
                  <c:v>COAL</c:v>
                </c:pt>
                <c:pt idx="2">
                  <c:v>HYDRO</c:v>
                </c:pt>
                <c:pt idx="3">
                  <c:v>SOLAR</c:v>
                </c:pt>
                <c:pt idx="4">
                  <c:v>WIND</c:v>
                </c:pt>
                <c:pt idx="5">
                  <c:v>OIL</c:v>
                </c:pt>
                <c:pt idx="6">
                  <c:v>BIOMASS</c:v>
                </c:pt>
                <c:pt idx="7">
                  <c:v>NUCLEAR</c:v>
                </c:pt>
              </c:strCache>
            </c:strRef>
          </c:cat>
          <c:val>
            <c:numRef>
              <c:f>Sheet1!$B$2:$B$9</c:f>
              <c:numCache>
                <c:formatCode>General</c:formatCode>
                <c:ptCount val="8"/>
                <c:pt idx="0">
                  <c:v>1160</c:v>
                </c:pt>
                <c:pt idx="1">
                  <c:v>550</c:v>
                </c:pt>
                <c:pt idx="2">
                  <c:v>460</c:v>
                </c:pt>
                <c:pt idx="3">
                  <c:v>410</c:v>
                </c:pt>
                <c:pt idx="4">
                  <c:v>340</c:v>
                </c:pt>
                <c:pt idx="5">
                  <c:v>230</c:v>
                </c:pt>
                <c:pt idx="6">
                  <c:v>150</c:v>
                </c:pt>
                <c:pt idx="7">
                  <c:v>46</c:v>
                </c:pt>
              </c:numCache>
            </c:numRef>
          </c:val>
          <c:extLst>
            <c:ext xmlns:c16="http://schemas.microsoft.com/office/drawing/2014/chart" uri="{C3380CC4-5D6E-409C-BE32-E72D297353CC}">
              <c16:uniqueId val="{00000000-6310-436A-915E-D2427D38493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E2E8F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A2E4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4"/>
        <c:crosses val="autoZero"/>
        <c:crossBetween val="between"/>
      </c:valAx>
      <c:spPr>
        <a:solidFill>
          <a:srgbClr val="13243A"/>
        </a:solidFill>
        <a:ln>
          <a:noFill/>
        </a:ln>
        <a:effectLst/>
      </c:spPr>
    </c:plotArea>
    <c:plotVisOnly val="1"/>
    <c:dispBlanksAs val="span"/>
    <c:showDLblsOverMax val="1"/>
  </c:chart>
  <c:spPr>
    <a:solidFill>
      <a:srgbClr val="13243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94A3B8"/>
                </a:solidFill>
                <a:latin typeface="Calibri"/>
              </a:defRPr>
            </a:pPr>
            <a:r>
              <a:rPr lang="en-US" sz="1000" b="0" i="0" u="none" strike="noStrike">
                <a:solidFill>
                  <a:srgbClr val="94A3B8"/>
                </a:solidFill>
                <a:latin typeface="Calibri"/>
              </a:rPr>
              <a:t>Per-class accuracy (overall 39.5% vs. 12.5% random baseline)</a:t>
            </a:r>
          </a:p>
        </c:rich>
      </c:tx>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2DD4BF"/>
            </a:solidFill>
            <a:effectLst/>
          </c:spPr>
          <c:invertIfNegative val="0"/>
          <c:dLbls>
            <c:numFmt formatCode="0%" sourceLinked="0"/>
            <c:spPr>
              <a:noFill/>
              <a:ln>
                <a:noFill/>
              </a:ln>
              <a:effectLst/>
            </c:spPr>
            <c:txPr>
              <a:bodyPr/>
              <a:lstStyle/>
              <a:p>
                <a:pPr>
                  <a:defRPr sz="1000" b="0" i="0" u="none" strike="noStrike">
                    <a:solidFill>
                      <a:srgbClr val="E2E8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GAS</c:v>
                </c:pt>
                <c:pt idx="1">
                  <c:v>NUCLEAR</c:v>
                </c:pt>
                <c:pt idx="2">
                  <c:v>SOLAR</c:v>
                </c:pt>
                <c:pt idx="3">
                  <c:v>BIOMASS</c:v>
                </c:pt>
                <c:pt idx="4">
                  <c:v>COAL</c:v>
                </c:pt>
                <c:pt idx="5">
                  <c:v>OIL</c:v>
                </c:pt>
                <c:pt idx="6">
                  <c:v>WIND</c:v>
                </c:pt>
                <c:pt idx="7">
                  <c:v>HYDRO</c:v>
                </c:pt>
              </c:strCache>
            </c:strRef>
          </c:cat>
          <c:val>
            <c:numRef>
              <c:f>Sheet1!$B$2:$B$9</c:f>
              <c:numCache>
                <c:formatCode>General</c:formatCode>
                <c:ptCount val="8"/>
                <c:pt idx="0">
                  <c:v>0.06</c:v>
                </c:pt>
                <c:pt idx="1">
                  <c:v>0.14000000000000001</c:v>
                </c:pt>
                <c:pt idx="2">
                  <c:v>0.28000000000000003</c:v>
                </c:pt>
                <c:pt idx="3">
                  <c:v>0.39</c:v>
                </c:pt>
                <c:pt idx="4">
                  <c:v>0.51</c:v>
                </c:pt>
                <c:pt idx="5">
                  <c:v>0.56999999999999995</c:v>
                </c:pt>
                <c:pt idx="6">
                  <c:v>0.67</c:v>
                </c:pt>
                <c:pt idx="7">
                  <c:v>0.68</c:v>
                </c:pt>
              </c:numCache>
            </c:numRef>
          </c:val>
          <c:extLst>
            <c:ext xmlns:c16="http://schemas.microsoft.com/office/drawing/2014/chart" uri="{C3380CC4-5D6E-409C-BE32-E72D297353CC}">
              <c16:uniqueId val="{00000000-55BC-4147-8722-ABDC1EB9CCD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E2E8F0"/>
                </a:solidFill>
                <a:latin typeface="Arial"/>
              </a:defRPr>
            </a:pPr>
            <a:endParaRPr lang="en-US"/>
          </a:p>
        </c:txPr>
        <c:crossAx val="2094734552"/>
        <c:crosses val="autoZero"/>
        <c:auto val="1"/>
        <c:lblAlgn val="ctr"/>
        <c:lblOffset val="100"/>
        <c:noMultiLvlLbl val="1"/>
      </c:catAx>
      <c:valAx>
        <c:axId val="2094734552"/>
        <c:scaling>
          <c:orientation val="minMax"/>
          <c:max val="0.8"/>
          <c:min val="0"/>
        </c:scaling>
        <c:delete val="0"/>
        <c:axPos val="b"/>
        <c:majorGridlines>
          <c:spPr>
            <a:ln w="6350" cap="flat">
              <a:solidFill>
                <a:srgbClr val="1A2E4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4A3B8"/>
                </a:solidFill>
                <a:latin typeface="Arial"/>
              </a:defRPr>
            </a:pPr>
            <a:endParaRPr lang="en-US"/>
          </a:p>
        </c:txPr>
        <c:crossAx val="2094734554"/>
        <c:crosses val="autoZero"/>
        <c:crossBetween val="between"/>
      </c:valAx>
      <c:spPr>
        <a:solidFill>
          <a:srgbClr val="13243A"/>
        </a:solidFill>
        <a:ln>
          <a:noFill/>
        </a:ln>
        <a:effectLst/>
      </c:spPr>
    </c:plotArea>
    <c:plotVisOnly val="1"/>
    <c:dispBlanksAs val="span"/>
    <c:showDLblsOverMax val="1"/>
  </c:chart>
  <c:spPr>
    <a:solidFill>
      <a:srgbClr val="13243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051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project on whether machine learning, applied to satellite imagery, can independently verify what power plants self-report about their emissions. We'll walk through the problem, the data, our four-task ML pipeline, the results so far, and what this means for regulators, ESG investors, and climate auditors.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emissions monitoring today depends on what plants choose to report, when they choose to report it. That's slow, uneven, and easy to game. We have three primary audiences including regulators who want to know where to send inspectors, ESG investors who want to verify corporate disclosures, and climate auditors who need to extend oversight into places without strong reporting regimes.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 sources joined on plant ID: satellite imagery from USPPDS (we work primarily with 15-meter Landsat patches resized to 64x64 for the CNNs) and EPA's eGRID 2014 emissions records for the labels and tabular covariates. The biggest data challenge is class imbalance which we handle with weighted sampling and class-weighted loss. Note these are approximate sample counts shown for illustration; the exact NUCLEAR count is 46 per the report.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tasks of escalating difficulty. Task 1: can we tell high from low pollution from imagery? Task 2: can we identify fuel type, which is itself a strong emissions proxy? Task 3: predict continuous emissions intensity, testing whether imagery adds signal beyond what tabular data already provides. Task 4: the payoff: train on verified plants, then flag plants whose imagery looks much dirtier than what they report.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is the headline result. From 64-pixel Landsat patches alone, the ResNet-18 hits 0.866 AUC. What matters operationally: we catch about three of every four high-pollution plants while only mislabeling about one in five low-pollution plants. The 59 false positives we did get cluster right at the quartile boundary, which is exactly where you'd expect the model to be uncertain.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splits cleanly into a 'wins' story and a 'limits' story. Hydro dams and wind farms have such unique visual footprints (turbines, water) that even 15-meter imagery picks them up. But the moment you ask the model to tell a gas plant from a coal plant from a biomass plant, accuracy collapses. They all look like thermal plants from space at this resolution. That's our most important finding: resolution is the binding constraint, not architecture.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limitations matter as much as the wins. Our biggest constraint is resolution since we're working with patches barely large enough to see a plant's outline. Higher-resolution imagery and thermal bands are the single highest-leverage investment. Time-aligned hourly data, an anomaly-detection pilot with a regulator, and global generalization round out the roadmap.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beyond an academic exercise: today's emissions monitoring waits on what plants choose to disclose. Our framework gives three distinct stakeholders a continuous, independent signal so regulators get a triage tool, investors get a disclosure check, and climate auditors get reach into jurisdictions without strong reporting. The concrete next step is a 100-facility pilot with a regulatory partner.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three takeaways. The classifier works (0.866 AUC). It catches three of four high-emitters with low false positives. And the next frontier is fossil-fuel discrimination, which we unlock with thermal bands and higher resolution.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a:effectLst/>
      </p:bgPr>
    </p:bg>
    <p:spTree>
      <p:nvGrpSpPr>
        <p:cNvPr id="1" name=""/>
        <p:cNvGrpSpPr/>
        <p:nvPr/>
      </p:nvGrpSpPr>
      <p:grpSpPr>
        <a:xfrm>
          <a:off x="0" y="0"/>
          <a:ext cx="0" cy="0"/>
          <a:chOff x="0" y="0"/>
          <a:chExt cx="0" cy="0"/>
        </a:xfrm>
      </p:grpSpPr>
      <p:sp>
        <p:nvSpPr>
          <p:cNvPr id="2" name="Shape 0"/>
          <p:cNvSpPr/>
          <p:nvPr/>
        </p:nvSpPr>
        <p:spPr>
          <a:xfrm>
            <a:off x="10332720" y="5029200"/>
            <a:ext cx="3657600" cy="3657600"/>
          </a:xfrm>
          <a:prstGeom prst="ellipse">
            <a:avLst/>
          </a:prstGeom>
          <a:solidFill>
            <a:srgbClr val="0B1929"/>
          </a:solidFill>
          <a:ln w="12700">
            <a:solidFill>
              <a:srgbClr val="2DD4BF">
                <a:alpha val="60000"/>
              </a:srgbClr>
            </a:solidFill>
            <a:prstDash val="solid"/>
          </a:ln>
        </p:spPr>
        <p:txBody>
          <a:bodyPr/>
          <a:lstStyle/>
          <a:p>
            <a:endParaRPr lang="en-US"/>
          </a:p>
        </p:txBody>
      </p:sp>
      <p:sp>
        <p:nvSpPr>
          <p:cNvPr id="3" name="Shape 1"/>
          <p:cNvSpPr/>
          <p:nvPr/>
        </p:nvSpPr>
        <p:spPr>
          <a:xfrm>
            <a:off x="9418320" y="4114800"/>
            <a:ext cx="5486400" cy="5486400"/>
          </a:xfrm>
          <a:prstGeom prst="ellipse">
            <a:avLst/>
          </a:prstGeom>
          <a:solidFill>
            <a:srgbClr val="0B1929"/>
          </a:solidFill>
          <a:ln w="12700">
            <a:solidFill>
              <a:srgbClr val="2DD4BF">
                <a:alpha val="48000"/>
              </a:srgbClr>
            </a:solidFill>
            <a:prstDash val="solid"/>
          </a:ln>
        </p:spPr>
        <p:txBody>
          <a:bodyPr/>
          <a:lstStyle/>
          <a:p>
            <a:endParaRPr lang="en-US"/>
          </a:p>
        </p:txBody>
      </p:sp>
      <p:sp>
        <p:nvSpPr>
          <p:cNvPr id="4" name="Shape 2"/>
          <p:cNvSpPr/>
          <p:nvPr/>
        </p:nvSpPr>
        <p:spPr>
          <a:xfrm>
            <a:off x="8503920" y="3200400"/>
            <a:ext cx="7315200" cy="7315200"/>
          </a:xfrm>
          <a:prstGeom prst="ellipse">
            <a:avLst/>
          </a:prstGeom>
          <a:solidFill>
            <a:srgbClr val="0B1929"/>
          </a:solidFill>
          <a:ln w="12700">
            <a:solidFill>
              <a:srgbClr val="2DD4BF">
                <a:alpha val="36000"/>
              </a:srgbClr>
            </a:solidFill>
            <a:prstDash val="solid"/>
          </a:ln>
        </p:spPr>
        <p:txBody>
          <a:bodyPr/>
          <a:lstStyle/>
          <a:p>
            <a:endParaRPr lang="en-US"/>
          </a:p>
        </p:txBody>
      </p:sp>
      <p:sp>
        <p:nvSpPr>
          <p:cNvPr id="5" name="Shape 3"/>
          <p:cNvSpPr/>
          <p:nvPr/>
        </p:nvSpPr>
        <p:spPr>
          <a:xfrm>
            <a:off x="7589520" y="2286000"/>
            <a:ext cx="9144000" cy="9144000"/>
          </a:xfrm>
          <a:prstGeom prst="ellipse">
            <a:avLst/>
          </a:prstGeom>
          <a:solidFill>
            <a:srgbClr val="0B1929"/>
          </a:solidFill>
          <a:ln w="12700">
            <a:solidFill>
              <a:srgbClr val="2DD4BF">
                <a:alpha val="24000"/>
              </a:srgbClr>
            </a:solidFill>
            <a:prstDash val="solid"/>
          </a:ln>
        </p:spPr>
        <p:txBody>
          <a:bodyPr/>
          <a:lstStyle/>
          <a:p>
            <a:endParaRPr lang="en-US"/>
          </a:p>
        </p:txBody>
      </p:sp>
      <p:sp>
        <p:nvSpPr>
          <p:cNvPr id="6" name="Text 4"/>
          <p:cNvSpPr/>
          <p:nvPr/>
        </p:nvSpPr>
        <p:spPr>
          <a:xfrm>
            <a:off x="640080" y="1645920"/>
            <a:ext cx="9144000" cy="365760"/>
          </a:xfrm>
          <a:prstGeom prst="rect">
            <a:avLst/>
          </a:prstGeom>
          <a:noFill/>
          <a:ln/>
        </p:spPr>
        <p:txBody>
          <a:bodyPr wrap="square" lIns="0" tIns="0" rIns="0" bIns="0" rtlCol="0" anchor="ctr"/>
          <a:lstStyle/>
          <a:p>
            <a:pPr marL="0" indent="0">
              <a:buNone/>
            </a:pPr>
            <a:r>
              <a:rPr lang="en-US" sz="1200" b="1" kern="0" spc="500" dirty="0">
                <a:solidFill>
                  <a:srgbClr val="2DD4BF"/>
                </a:solidFill>
                <a:latin typeface="Calibri" pitchFamily="34" charset="0"/>
                <a:ea typeface="Calibri" pitchFamily="34" charset="-122"/>
                <a:cs typeface="Calibri" pitchFamily="34" charset="-120"/>
              </a:rPr>
              <a:t>MACHINE LEARNING II  ·  CAPSTONE</a:t>
            </a:r>
            <a:endParaRPr lang="en-US" sz="1200" dirty="0"/>
          </a:p>
        </p:txBody>
      </p:sp>
      <p:sp>
        <p:nvSpPr>
          <p:cNvPr id="7" name="Text 5"/>
          <p:cNvSpPr/>
          <p:nvPr/>
        </p:nvSpPr>
        <p:spPr>
          <a:xfrm>
            <a:off x="640080" y="2103120"/>
            <a:ext cx="10972800" cy="1280160"/>
          </a:xfrm>
          <a:prstGeom prst="rect">
            <a:avLst/>
          </a:prstGeom>
          <a:noFill/>
          <a:ln/>
        </p:spPr>
        <p:txBody>
          <a:bodyPr wrap="square" lIns="0" tIns="0" rIns="0" bIns="0" rtlCol="0" anchor="ctr"/>
          <a:lstStyle/>
          <a:p>
            <a:pPr marL="0" indent="0">
              <a:buNone/>
            </a:pPr>
            <a:r>
              <a:rPr lang="en-US" sz="6400" b="1" dirty="0">
                <a:solidFill>
                  <a:srgbClr val="E2E8F0"/>
                </a:solidFill>
                <a:latin typeface="Georgia" pitchFamily="34" charset="0"/>
                <a:ea typeface="Georgia" pitchFamily="34" charset="-122"/>
                <a:cs typeface="Georgia" pitchFamily="34" charset="-120"/>
              </a:rPr>
              <a:t>Emissions from Above</a:t>
            </a:r>
            <a:endParaRPr lang="en-US" sz="6400" dirty="0"/>
          </a:p>
        </p:txBody>
      </p:sp>
      <p:sp>
        <p:nvSpPr>
          <p:cNvPr id="8" name="Text 6"/>
          <p:cNvSpPr/>
          <p:nvPr/>
        </p:nvSpPr>
        <p:spPr>
          <a:xfrm>
            <a:off x="640080" y="3383280"/>
            <a:ext cx="10058400" cy="548640"/>
          </a:xfrm>
          <a:prstGeom prst="rect">
            <a:avLst/>
          </a:prstGeom>
          <a:noFill/>
          <a:ln/>
        </p:spPr>
        <p:txBody>
          <a:bodyPr wrap="square" lIns="0" tIns="0" rIns="0" bIns="0" rtlCol="0" anchor="ctr"/>
          <a:lstStyle/>
          <a:p>
            <a:pPr marL="0" indent="0">
              <a:buNone/>
            </a:pPr>
            <a:r>
              <a:rPr lang="en-US" sz="2000" i="1" dirty="0">
                <a:solidFill>
                  <a:srgbClr val="94A3B8"/>
                </a:solidFill>
                <a:latin typeface="Georgia" pitchFamily="34" charset="0"/>
                <a:ea typeface="Georgia" pitchFamily="34" charset="-122"/>
                <a:cs typeface="Georgia" pitchFamily="34" charset="-120"/>
              </a:rPr>
              <a:t>Classifying Power Plant Pollution from Satellite Imagery and Emissions Data</a:t>
            </a:r>
            <a:endParaRPr lang="en-US" sz="2000" dirty="0"/>
          </a:p>
        </p:txBody>
      </p:sp>
      <p:sp>
        <p:nvSpPr>
          <p:cNvPr id="9" name="Shape 7"/>
          <p:cNvSpPr/>
          <p:nvPr/>
        </p:nvSpPr>
        <p:spPr>
          <a:xfrm>
            <a:off x="640080" y="4937760"/>
            <a:ext cx="73152" cy="1097280"/>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868680" y="4937760"/>
            <a:ext cx="9144000" cy="1097280"/>
          </a:xfrm>
          <a:prstGeom prst="rect">
            <a:avLst/>
          </a:prstGeom>
          <a:noFill/>
          <a:ln/>
        </p:spPr>
        <p:txBody>
          <a:bodyPr wrap="square" lIns="0" tIns="0" rIns="0" bIns="0" rtlCol="0" anchor="t"/>
          <a:lstStyle/>
          <a:p>
            <a:pPr marL="0" indent="0">
              <a:buNone/>
            </a:pPr>
            <a:r>
              <a:rPr lang="en-US" sz="1400" b="1" dirty="0">
                <a:solidFill>
                  <a:srgbClr val="E2E8F0"/>
                </a:solidFill>
                <a:latin typeface="Calibri" pitchFamily="34" charset="0"/>
                <a:ea typeface="Calibri" pitchFamily="34" charset="-122"/>
                <a:cs typeface="Calibri" pitchFamily="34" charset="-120"/>
              </a:rPr>
              <a:t>Rob Scott  ·  Ananya Sen  ·  Mateo Ronquillo  ·  Efrain Rodriguez</a:t>
            </a:r>
            <a:endParaRPr lang="en-US" sz="14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200" dirty="0">
                <a:solidFill>
                  <a:srgbClr val="94A3B8"/>
                </a:solidFill>
                <a:latin typeface="Calibri" pitchFamily="34" charset="0"/>
                <a:ea typeface="Calibri" pitchFamily="34" charset="-122"/>
                <a:cs typeface="Calibri" pitchFamily="34" charset="-120"/>
              </a:rPr>
              <a:t>The University of Chicago Booth School of Business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ea typeface="Calibri" pitchFamily="34" charset="-122"/>
                <a:cs typeface="Calibri" pitchFamily="34" charset="-120"/>
              </a:rPr>
              <a:t>01  ·  THE PROBLEM</a:t>
            </a:r>
            <a:endParaRPr lang="en-US" sz="1000" dirty="0"/>
          </a:p>
        </p:txBody>
      </p:sp>
      <p:sp>
        <p:nvSpPr>
          <p:cNvPr id="3" name="Text 1"/>
          <p:cNvSpPr/>
          <p:nvPr/>
        </p:nvSpPr>
        <p:spPr>
          <a:xfrm>
            <a:off x="457200" y="548640"/>
            <a:ext cx="11247120" cy="7772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ea typeface="Georgia" pitchFamily="34" charset="-122"/>
                <a:cs typeface="Georgia" pitchFamily="34" charset="-120"/>
              </a:rPr>
              <a:t>Emissions data is self-reported, delayed, and uneven</a:t>
            </a:r>
            <a:endParaRPr lang="en-US" sz="2600" dirty="0"/>
          </a:p>
        </p:txBody>
      </p:sp>
      <p:sp>
        <p:nvSpPr>
          <p:cNvPr id="4" name="Text 2"/>
          <p:cNvSpPr/>
          <p:nvPr/>
        </p:nvSpPr>
        <p:spPr>
          <a:xfrm>
            <a:off x="457200" y="1554480"/>
            <a:ext cx="6217920" cy="2286000"/>
          </a:xfrm>
          <a:prstGeom prst="rect">
            <a:avLst/>
          </a:prstGeom>
          <a:noFill/>
          <a:ln/>
        </p:spPr>
        <p:txBody>
          <a:bodyPr wrap="square" lIns="0" tIns="0" rIns="0" bIns="0" rtlCol="0" anchor="t"/>
          <a:lstStyle/>
          <a:p>
            <a:pPr marL="0" indent="0">
              <a:buNone/>
            </a:pPr>
            <a:r>
              <a:rPr lang="en-US" sz="1600" dirty="0">
                <a:solidFill>
                  <a:srgbClr val="E2E8F0"/>
                </a:solidFill>
                <a:latin typeface="Calibri" pitchFamily="34" charset="0"/>
                <a:ea typeface="Calibri" pitchFamily="34" charset="-122"/>
                <a:cs typeface="Calibri" pitchFamily="34" charset="-120"/>
              </a:rPr>
              <a:t>Power plants are among the largest point-source emitters globally yet monitoring relies on voluntary, self-reported data that may be late or inaccurate.</a:t>
            </a:r>
            <a:endParaRPr lang="en-US" sz="16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600" dirty="0"/>
          </a:p>
          <a:p>
            <a:pPr marL="0" indent="0">
              <a:buNone/>
            </a:pPr>
            <a:r>
              <a:rPr lang="en-US" sz="1600" dirty="0">
                <a:solidFill>
                  <a:srgbClr val="94A3B8"/>
                </a:solidFill>
                <a:latin typeface="Calibri" pitchFamily="34" charset="0"/>
                <a:ea typeface="Calibri" pitchFamily="34" charset="-122"/>
                <a:cs typeface="Calibri" pitchFamily="34" charset="-120"/>
              </a:rPr>
              <a:t>Satellite imagery offers an </a:t>
            </a:r>
            <a:r>
              <a:rPr lang="en-US" sz="1600" b="1" dirty="0">
                <a:solidFill>
                  <a:srgbClr val="F59E0B"/>
                </a:solidFill>
                <a:latin typeface="Calibri" pitchFamily="34" charset="0"/>
                <a:ea typeface="Calibri" pitchFamily="34" charset="-122"/>
                <a:cs typeface="Calibri" pitchFamily="34" charset="-120"/>
              </a:rPr>
              <a:t>independent, continuous, scalable</a:t>
            </a:r>
            <a:r>
              <a:rPr lang="en-US" sz="1600" dirty="0">
                <a:solidFill>
                  <a:srgbClr val="94A3B8"/>
                </a:solidFill>
                <a:latin typeface="Calibri" pitchFamily="34" charset="0"/>
                <a:ea typeface="Calibri" pitchFamily="34" charset="-122"/>
                <a:cs typeface="Calibri" pitchFamily="34" charset="-120"/>
              </a:rPr>
              <a:t> observation channel that does not depend on what an operator chooses to disclose.</a:t>
            </a:r>
            <a:endParaRPr lang="en-US" sz="1600" dirty="0"/>
          </a:p>
        </p:txBody>
      </p:sp>
      <p:sp>
        <p:nvSpPr>
          <p:cNvPr id="5" name="Shape 3"/>
          <p:cNvSpPr/>
          <p:nvPr/>
        </p:nvSpPr>
        <p:spPr>
          <a:xfrm>
            <a:off x="457200" y="4023360"/>
            <a:ext cx="6217920" cy="2194560"/>
          </a:xfrm>
          <a:prstGeom prst="rect">
            <a:avLst/>
          </a:prstGeom>
          <a:solidFill>
            <a:srgbClr val="13243A"/>
          </a:solidFill>
          <a:ln w="12700">
            <a:solidFill>
              <a:srgbClr val="13243A"/>
            </a:solidFill>
            <a:prstDash val="solid"/>
          </a:ln>
        </p:spPr>
        <p:txBody>
          <a:bodyPr/>
          <a:lstStyle/>
          <a:p>
            <a:endParaRPr lang="en-US"/>
          </a:p>
        </p:txBody>
      </p:sp>
      <p:sp>
        <p:nvSpPr>
          <p:cNvPr id="6" name="Shape 4"/>
          <p:cNvSpPr/>
          <p:nvPr/>
        </p:nvSpPr>
        <p:spPr>
          <a:xfrm>
            <a:off x="457200" y="4023360"/>
            <a:ext cx="73152" cy="2194560"/>
          </a:xfrm>
          <a:prstGeom prst="rect">
            <a:avLst/>
          </a:prstGeom>
          <a:solidFill>
            <a:srgbClr val="2DD4BF"/>
          </a:solidFill>
          <a:ln w="12700">
            <a:solidFill>
              <a:srgbClr val="2DD4BF"/>
            </a:solidFill>
            <a:prstDash val="solid"/>
          </a:ln>
        </p:spPr>
        <p:txBody>
          <a:bodyPr/>
          <a:lstStyle/>
          <a:p>
            <a:endParaRPr lang="en-US"/>
          </a:p>
        </p:txBody>
      </p:sp>
      <p:sp>
        <p:nvSpPr>
          <p:cNvPr id="7" name="Text 5"/>
          <p:cNvSpPr/>
          <p:nvPr/>
        </p:nvSpPr>
        <p:spPr>
          <a:xfrm>
            <a:off x="685800" y="4160520"/>
            <a:ext cx="5943600" cy="274320"/>
          </a:xfrm>
          <a:prstGeom prst="rect">
            <a:avLst/>
          </a:prstGeom>
          <a:noFill/>
          <a:ln/>
        </p:spPr>
        <p:txBody>
          <a:bodyPr wrap="square" lIns="0" tIns="0" rIns="0" bIns="0" rtlCol="0" anchor="ctr"/>
          <a:lstStyle/>
          <a:p>
            <a:pPr marL="0" indent="0">
              <a:buNone/>
            </a:pPr>
            <a:r>
              <a:rPr lang="en-US" sz="1000" b="1" kern="0" spc="300" dirty="0">
                <a:solidFill>
                  <a:srgbClr val="2DD4BF"/>
                </a:solidFill>
                <a:latin typeface="Calibri" pitchFamily="34" charset="0"/>
                <a:ea typeface="Calibri" pitchFamily="34" charset="-122"/>
                <a:cs typeface="Calibri" pitchFamily="34" charset="-120"/>
              </a:rPr>
              <a:t>STAKEHOLDER QUESTIONS</a:t>
            </a:r>
            <a:endParaRPr lang="en-US" sz="1000" dirty="0"/>
          </a:p>
        </p:txBody>
      </p:sp>
      <p:sp>
        <p:nvSpPr>
          <p:cNvPr id="8" name="Text 6"/>
          <p:cNvSpPr/>
          <p:nvPr/>
        </p:nvSpPr>
        <p:spPr>
          <a:xfrm>
            <a:off x="777240" y="4480560"/>
            <a:ext cx="5852160"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Can a plant's pollution tier be inferred from its visible + IR signature?</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Which visual features (plume, thermal, footprint) drive intensity?</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Can we flag plants whose appearance suggests under-reporting?</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Does accuracy vary by fuel type or geography?</a:t>
            </a:r>
            <a:endParaRPr lang="en-US" sz="1200" dirty="0"/>
          </a:p>
        </p:txBody>
      </p:sp>
      <p:sp>
        <p:nvSpPr>
          <p:cNvPr id="9" name="Shape 7"/>
          <p:cNvSpPr/>
          <p:nvPr/>
        </p:nvSpPr>
        <p:spPr>
          <a:xfrm>
            <a:off x="7040880" y="1554480"/>
            <a:ext cx="4663440" cy="1371600"/>
          </a:xfrm>
          <a:prstGeom prst="rect">
            <a:avLst/>
          </a:prstGeom>
          <a:solidFill>
            <a:srgbClr val="13243A"/>
          </a:solidFill>
          <a:ln w="12700">
            <a:solidFill>
              <a:srgbClr val="13243A"/>
            </a:solidFill>
            <a:prstDash val="solid"/>
          </a:ln>
        </p:spPr>
        <p:txBody>
          <a:bodyPr/>
          <a:lstStyle/>
          <a:p>
            <a:endParaRPr lang="en-US"/>
          </a:p>
        </p:txBody>
      </p:sp>
      <p:sp>
        <p:nvSpPr>
          <p:cNvPr id="10" name="Shape 8"/>
          <p:cNvSpPr/>
          <p:nvPr/>
        </p:nvSpPr>
        <p:spPr>
          <a:xfrm>
            <a:off x="7040880" y="1554480"/>
            <a:ext cx="73152" cy="1371600"/>
          </a:xfrm>
          <a:prstGeom prst="rect">
            <a:avLst/>
          </a:prstGeom>
          <a:solidFill>
            <a:srgbClr val="2DD4BF"/>
          </a:solidFill>
          <a:ln w="12700">
            <a:solidFill>
              <a:srgbClr val="2DD4BF"/>
            </a:solidFill>
            <a:prstDash val="solid"/>
          </a:ln>
        </p:spPr>
        <p:txBody>
          <a:bodyPr/>
          <a:lstStyle/>
          <a:p>
            <a:endParaRPr lang="en-US"/>
          </a:p>
        </p:txBody>
      </p:sp>
      <p:sp>
        <p:nvSpPr>
          <p:cNvPr id="11" name="Text 9"/>
          <p:cNvSpPr/>
          <p:nvPr/>
        </p:nvSpPr>
        <p:spPr>
          <a:xfrm>
            <a:off x="7269480" y="1737360"/>
            <a:ext cx="4297680" cy="274320"/>
          </a:xfrm>
          <a:prstGeom prst="rect">
            <a:avLst/>
          </a:prstGeom>
          <a:noFill/>
          <a:ln/>
        </p:spPr>
        <p:txBody>
          <a:bodyPr wrap="square" lIns="0" tIns="0" rIns="0" bIns="0" rtlCol="0" anchor="ctr"/>
          <a:lstStyle/>
          <a:p>
            <a:pPr marL="0" indent="0">
              <a:buNone/>
            </a:pPr>
            <a:r>
              <a:rPr lang="en-US" sz="1100" b="1" kern="0" spc="300" dirty="0">
                <a:solidFill>
                  <a:srgbClr val="2DD4BF"/>
                </a:solidFill>
                <a:latin typeface="Calibri" pitchFamily="34" charset="0"/>
                <a:ea typeface="Calibri" pitchFamily="34" charset="-122"/>
                <a:cs typeface="Calibri" pitchFamily="34" charset="-120"/>
              </a:rPr>
              <a:t>REGULATORS</a:t>
            </a:r>
            <a:endParaRPr lang="en-US" sz="1100" dirty="0"/>
          </a:p>
        </p:txBody>
      </p:sp>
      <p:sp>
        <p:nvSpPr>
          <p:cNvPr id="12" name="Text 10"/>
          <p:cNvSpPr/>
          <p:nvPr/>
        </p:nvSpPr>
        <p:spPr>
          <a:xfrm>
            <a:off x="7269480" y="2057400"/>
            <a:ext cx="4297680" cy="777240"/>
          </a:xfrm>
          <a:prstGeom prst="rect">
            <a:avLst/>
          </a:prstGeom>
          <a:noFill/>
          <a:ln/>
        </p:spPr>
        <p:txBody>
          <a:bodyPr wrap="square" lIns="0" tIns="0" rIns="0" bIns="0" rtlCol="0" anchor="t"/>
          <a:lstStyle/>
          <a:p>
            <a:pPr marL="0" indent="0">
              <a:buNone/>
            </a:pPr>
            <a:r>
              <a:rPr lang="en-US" sz="1400" dirty="0">
                <a:solidFill>
                  <a:srgbClr val="E2E8F0"/>
                </a:solidFill>
                <a:latin typeface="Calibri" pitchFamily="34" charset="0"/>
                <a:ea typeface="Calibri" pitchFamily="34" charset="-122"/>
                <a:cs typeface="Calibri" pitchFamily="34" charset="-120"/>
              </a:rPr>
              <a:t>Prioritize field audits with imagery-flagged candidates</a:t>
            </a:r>
            <a:endParaRPr lang="en-US" sz="1400" dirty="0"/>
          </a:p>
        </p:txBody>
      </p:sp>
      <p:sp>
        <p:nvSpPr>
          <p:cNvPr id="13" name="Shape 11"/>
          <p:cNvSpPr/>
          <p:nvPr/>
        </p:nvSpPr>
        <p:spPr>
          <a:xfrm>
            <a:off x="7040880" y="3154680"/>
            <a:ext cx="4663440" cy="1371600"/>
          </a:xfrm>
          <a:prstGeom prst="rect">
            <a:avLst/>
          </a:prstGeom>
          <a:solidFill>
            <a:srgbClr val="13243A"/>
          </a:solidFill>
          <a:ln w="12700">
            <a:solidFill>
              <a:srgbClr val="13243A"/>
            </a:solidFill>
            <a:prstDash val="solid"/>
          </a:ln>
        </p:spPr>
        <p:txBody>
          <a:bodyPr/>
          <a:lstStyle/>
          <a:p>
            <a:endParaRPr lang="en-US"/>
          </a:p>
        </p:txBody>
      </p:sp>
      <p:sp>
        <p:nvSpPr>
          <p:cNvPr id="14" name="Shape 12"/>
          <p:cNvSpPr/>
          <p:nvPr/>
        </p:nvSpPr>
        <p:spPr>
          <a:xfrm>
            <a:off x="7040880" y="3154680"/>
            <a:ext cx="73152" cy="1371600"/>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7269480" y="3337560"/>
            <a:ext cx="429768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ESG INVESTORS</a:t>
            </a:r>
            <a:endParaRPr lang="en-US" sz="1100" dirty="0"/>
          </a:p>
        </p:txBody>
      </p:sp>
      <p:sp>
        <p:nvSpPr>
          <p:cNvPr id="16" name="Text 14"/>
          <p:cNvSpPr/>
          <p:nvPr/>
        </p:nvSpPr>
        <p:spPr>
          <a:xfrm>
            <a:off x="7269480" y="3657600"/>
            <a:ext cx="4297680" cy="777240"/>
          </a:xfrm>
          <a:prstGeom prst="rect">
            <a:avLst/>
          </a:prstGeom>
          <a:noFill/>
          <a:ln/>
        </p:spPr>
        <p:txBody>
          <a:bodyPr wrap="square" lIns="0" tIns="0" rIns="0" bIns="0" rtlCol="0" anchor="t"/>
          <a:lstStyle/>
          <a:p>
            <a:pPr marL="0" indent="0">
              <a:buNone/>
            </a:pPr>
            <a:r>
              <a:rPr lang="en-US" sz="1400" dirty="0">
                <a:solidFill>
                  <a:srgbClr val="E2E8F0"/>
                </a:solidFill>
                <a:latin typeface="Calibri" pitchFamily="34" charset="0"/>
                <a:ea typeface="Calibri" pitchFamily="34" charset="-122"/>
                <a:cs typeface="Calibri" pitchFamily="34" charset="-120"/>
              </a:rPr>
              <a:t>Verify corporate emissions disclosures against satellite signal</a:t>
            </a:r>
            <a:endParaRPr lang="en-US" sz="1400" dirty="0"/>
          </a:p>
        </p:txBody>
      </p:sp>
      <p:sp>
        <p:nvSpPr>
          <p:cNvPr id="17" name="Shape 15"/>
          <p:cNvSpPr/>
          <p:nvPr/>
        </p:nvSpPr>
        <p:spPr>
          <a:xfrm>
            <a:off x="7040880" y="4754880"/>
            <a:ext cx="4663440" cy="1371600"/>
          </a:xfrm>
          <a:prstGeom prst="rect">
            <a:avLst/>
          </a:prstGeom>
          <a:solidFill>
            <a:srgbClr val="13243A"/>
          </a:solidFill>
          <a:ln w="12700">
            <a:solidFill>
              <a:srgbClr val="13243A"/>
            </a:solidFill>
            <a:prstDash val="solid"/>
          </a:ln>
        </p:spPr>
        <p:txBody>
          <a:bodyPr/>
          <a:lstStyle/>
          <a:p>
            <a:endParaRPr lang="en-US"/>
          </a:p>
        </p:txBody>
      </p:sp>
      <p:sp>
        <p:nvSpPr>
          <p:cNvPr id="18" name="Shape 16"/>
          <p:cNvSpPr/>
          <p:nvPr/>
        </p:nvSpPr>
        <p:spPr>
          <a:xfrm>
            <a:off x="7040880" y="4754880"/>
            <a:ext cx="73152" cy="1371600"/>
          </a:xfrm>
          <a:prstGeom prst="rect">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7269480" y="4937760"/>
            <a:ext cx="4297680" cy="274320"/>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CLIMATE AUDITORS</a:t>
            </a:r>
            <a:endParaRPr lang="en-US" sz="1100" dirty="0"/>
          </a:p>
        </p:txBody>
      </p:sp>
      <p:sp>
        <p:nvSpPr>
          <p:cNvPr id="20" name="Text 18"/>
          <p:cNvSpPr/>
          <p:nvPr/>
        </p:nvSpPr>
        <p:spPr>
          <a:xfrm>
            <a:off x="7269480" y="5257800"/>
            <a:ext cx="4297680" cy="777240"/>
          </a:xfrm>
          <a:prstGeom prst="rect">
            <a:avLst/>
          </a:prstGeom>
          <a:noFill/>
          <a:ln/>
        </p:spPr>
        <p:txBody>
          <a:bodyPr wrap="square" lIns="0" tIns="0" rIns="0" bIns="0" rtlCol="0" anchor="t"/>
          <a:lstStyle/>
          <a:p>
            <a:pPr marL="0" indent="0">
              <a:buNone/>
            </a:pPr>
            <a:r>
              <a:rPr lang="en-US" sz="1400" dirty="0">
                <a:solidFill>
                  <a:srgbClr val="E2E8F0"/>
                </a:solidFill>
                <a:latin typeface="Calibri" pitchFamily="34" charset="0"/>
                <a:ea typeface="Calibri" pitchFamily="34" charset="-122"/>
                <a:cs typeface="Calibri" pitchFamily="34" charset="-120"/>
              </a:rPr>
              <a:t>Extend oversight into weak-reporting jurisdictions globally</a:t>
            </a:r>
            <a:endParaRPr lang="en-US" sz="1400" dirty="0"/>
          </a:p>
        </p:txBody>
      </p:sp>
      <p:sp>
        <p:nvSpPr>
          <p:cNvPr id="21" name="Text 19"/>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Emissions from Above  ·  Scott · Sen · Ronquillo · Rodriguez</a:t>
            </a:r>
            <a:endParaRPr lang="en-US" sz="900" dirty="0"/>
          </a:p>
        </p:txBody>
      </p:sp>
      <p:sp>
        <p:nvSpPr>
          <p:cNvPr id="22" name="Text 20"/>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ea typeface="Calibri" pitchFamily="34" charset="-122"/>
                <a:cs typeface="Calibri" pitchFamily="34" charset="-120"/>
              </a:rPr>
              <a:t>02  ·  DATA</a:t>
            </a:r>
            <a:endParaRPr lang="en-US" sz="1000" dirty="0"/>
          </a:p>
        </p:txBody>
      </p:sp>
      <p:sp>
        <p:nvSpPr>
          <p:cNvPr id="3" name="Text 1"/>
          <p:cNvSpPr/>
          <p:nvPr/>
        </p:nvSpPr>
        <p:spPr>
          <a:xfrm>
            <a:off x="457200" y="548640"/>
            <a:ext cx="11247120" cy="7772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ea typeface="Georgia" pitchFamily="34" charset="-122"/>
                <a:cs typeface="Georgia" pitchFamily="34" charset="-120"/>
              </a:rPr>
              <a:t>4,454 plants: imagery joined to emissions</a:t>
            </a:r>
            <a:endParaRPr lang="en-US" sz="2600" dirty="0"/>
          </a:p>
        </p:txBody>
      </p:sp>
      <p:sp>
        <p:nvSpPr>
          <p:cNvPr id="4" name="Shape 2"/>
          <p:cNvSpPr/>
          <p:nvPr/>
        </p:nvSpPr>
        <p:spPr>
          <a:xfrm>
            <a:off x="457200" y="1554480"/>
            <a:ext cx="5669280" cy="2194560"/>
          </a:xfrm>
          <a:prstGeom prst="rect">
            <a:avLst/>
          </a:prstGeom>
          <a:solidFill>
            <a:srgbClr val="13243A"/>
          </a:solidFill>
          <a:ln w="12700">
            <a:solidFill>
              <a:srgbClr val="13243A"/>
            </a:solidFill>
            <a:prstDash val="solid"/>
          </a:ln>
        </p:spPr>
        <p:txBody>
          <a:bodyPr/>
          <a:lstStyle/>
          <a:p>
            <a:endParaRPr lang="en-US"/>
          </a:p>
        </p:txBody>
      </p:sp>
      <p:sp>
        <p:nvSpPr>
          <p:cNvPr id="5" name="Shape 3"/>
          <p:cNvSpPr/>
          <p:nvPr/>
        </p:nvSpPr>
        <p:spPr>
          <a:xfrm>
            <a:off x="457200" y="1554480"/>
            <a:ext cx="73152" cy="2194560"/>
          </a:xfrm>
          <a:prstGeom prst="rect">
            <a:avLst/>
          </a:prstGeom>
          <a:solidFill>
            <a:srgbClr val="2DD4BF"/>
          </a:solidFill>
          <a:ln w="12700">
            <a:solidFill>
              <a:srgbClr val="2DD4BF"/>
            </a:solidFill>
            <a:prstDash val="solid"/>
          </a:ln>
        </p:spPr>
        <p:txBody>
          <a:bodyPr/>
          <a:lstStyle/>
          <a:p>
            <a:endParaRPr lang="en-US"/>
          </a:p>
        </p:txBody>
      </p:sp>
      <p:sp>
        <p:nvSpPr>
          <p:cNvPr id="6" name="Text 4"/>
          <p:cNvSpPr/>
          <p:nvPr/>
        </p:nvSpPr>
        <p:spPr>
          <a:xfrm>
            <a:off x="685800" y="1737360"/>
            <a:ext cx="5303520" cy="274320"/>
          </a:xfrm>
          <a:prstGeom prst="rect">
            <a:avLst/>
          </a:prstGeom>
          <a:noFill/>
          <a:ln/>
        </p:spPr>
        <p:txBody>
          <a:bodyPr wrap="square" lIns="0" tIns="0" rIns="0" bIns="0" rtlCol="0" anchor="ctr"/>
          <a:lstStyle/>
          <a:p>
            <a:pPr marL="0" indent="0">
              <a:buNone/>
            </a:pPr>
            <a:r>
              <a:rPr lang="en-US" sz="1100" b="1" kern="0" spc="300" dirty="0">
                <a:solidFill>
                  <a:srgbClr val="2DD4BF"/>
                </a:solidFill>
                <a:latin typeface="Calibri" pitchFamily="34" charset="0"/>
                <a:ea typeface="Calibri" pitchFamily="34" charset="-122"/>
                <a:cs typeface="Calibri" pitchFamily="34" charset="-120"/>
              </a:rPr>
              <a:t>SATELLITE IMAGERY  ·  USPPDS</a:t>
            </a:r>
            <a:endParaRPr lang="en-US" sz="1100" dirty="0"/>
          </a:p>
        </p:txBody>
      </p:sp>
      <p:sp>
        <p:nvSpPr>
          <p:cNvPr id="7" name="Text 5"/>
          <p:cNvSpPr/>
          <p:nvPr/>
        </p:nvSpPr>
        <p:spPr>
          <a:xfrm>
            <a:off x="685800" y="2057400"/>
            <a:ext cx="5303520" cy="1600200"/>
          </a:xfrm>
          <a:prstGeom prst="rect">
            <a:avLst/>
          </a:prstGeom>
          <a:noFill/>
          <a:ln/>
        </p:spPr>
        <p:txBody>
          <a:bodyPr wrap="square" lIns="0" tIns="0" rIns="0" bIns="0" rtlCol="0" anchor="t"/>
          <a:lstStyle/>
          <a:p>
            <a:pPr marL="0" indent="0">
              <a:spcAft>
                <a:spcPts val="300"/>
              </a:spcAft>
              <a:buNone/>
            </a:pPr>
            <a:r>
              <a:rPr lang="en-US" sz="1300" b="1" dirty="0">
                <a:solidFill>
                  <a:srgbClr val="E2E8F0"/>
                </a:solidFill>
                <a:latin typeface="Calibri" pitchFamily="34" charset="0"/>
                <a:ea typeface="Calibri" pitchFamily="34" charset="-122"/>
                <a:cs typeface="Calibri" pitchFamily="34" charset="-120"/>
              </a:rPr>
              <a:t>NAIP: </a:t>
            </a:r>
            <a:r>
              <a:rPr lang="en-US" sz="1300" dirty="0">
                <a:solidFill>
                  <a:srgbClr val="94A3B8"/>
                </a:solidFill>
                <a:latin typeface="Calibri" pitchFamily="34" charset="0"/>
                <a:ea typeface="Calibri" pitchFamily="34" charset="-122"/>
                <a:cs typeface="Calibri" pitchFamily="34" charset="-120"/>
              </a:rPr>
              <a:t>1 m/px (~1,115×1,115), annotation ground truth</a:t>
            </a:r>
            <a:endParaRPr lang="en-US" sz="1300" dirty="0"/>
          </a:p>
          <a:p>
            <a:pPr marL="0" indent="0">
              <a:spcAft>
                <a:spcPts val="300"/>
              </a:spcAft>
              <a:buNone/>
            </a:pPr>
            <a:r>
              <a:rPr lang="en-US" sz="1300" b="1" dirty="0">
                <a:solidFill>
                  <a:srgbClr val="E2E8F0"/>
                </a:solidFill>
                <a:latin typeface="Calibri" pitchFamily="34" charset="0"/>
                <a:ea typeface="Calibri" pitchFamily="34" charset="-122"/>
                <a:cs typeface="Calibri" pitchFamily="34" charset="-120"/>
              </a:rPr>
              <a:t>Landsat 8:</a:t>
            </a:r>
            <a:r>
              <a:rPr lang="en-US" sz="1300" b="1" dirty="0">
                <a:solidFill>
                  <a:srgbClr val="94A3B8"/>
                </a:solidFill>
                <a:latin typeface="Calibri" pitchFamily="34" charset="0"/>
                <a:ea typeface="Calibri" pitchFamily="34" charset="-122"/>
                <a:cs typeface="Calibri" pitchFamily="34" charset="-120"/>
              </a:rPr>
              <a:t> </a:t>
            </a:r>
            <a:r>
              <a:rPr lang="en-US" sz="1300" dirty="0">
                <a:solidFill>
                  <a:srgbClr val="94A3B8"/>
                </a:solidFill>
                <a:latin typeface="Calibri" pitchFamily="34" charset="0"/>
                <a:ea typeface="Calibri" pitchFamily="34" charset="-122"/>
                <a:cs typeface="Calibri" pitchFamily="34" charset="-120"/>
              </a:rPr>
              <a:t>15 m/px (~75×75), primary ML input</a:t>
            </a:r>
            <a:endParaRPr lang="en-US" sz="1300" dirty="0"/>
          </a:p>
          <a:p>
            <a:pPr marL="0" indent="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spcAft>
                <a:spcPts val="300"/>
              </a:spcAft>
              <a:buNone/>
            </a:pPr>
            <a:r>
              <a:rPr lang="en-US" sz="1100" dirty="0">
                <a:solidFill>
                  <a:srgbClr val="94A3B8"/>
                </a:solidFill>
                <a:latin typeface="Calibri" pitchFamily="34" charset="0"/>
                <a:ea typeface="Calibri" pitchFamily="34" charset="-122"/>
                <a:cs typeface="Calibri" pitchFamily="34" charset="-120"/>
              </a:rPr>
              <a:t>Resized bilinearly to 64×64 for CNN compatibility; per-channel min-max normalization; augmentation with random flips, ±15° rotation, ±20% brightness.</a:t>
            </a:r>
            <a:endParaRPr lang="en-US" sz="1300" dirty="0"/>
          </a:p>
        </p:txBody>
      </p:sp>
      <p:sp>
        <p:nvSpPr>
          <p:cNvPr id="8" name="Shape 6"/>
          <p:cNvSpPr/>
          <p:nvPr/>
        </p:nvSpPr>
        <p:spPr>
          <a:xfrm>
            <a:off x="6492240" y="1554480"/>
            <a:ext cx="5212080" cy="2194560"/>
          </a:xfrm>
          <a:prstGeom prst="rect">
            <a:avLst/>
          </a:prstGeom>
          <a:solidFill>
            <a:srgbClr val="13243A"/>
          </a:solidFill>
          <a:ln w="12700">
            <a:solidFill>
              <a:srgbClr val="13243A"/>
            </a:solidFill>
            <a:prstDash val="solid"/>
          </a:ln>
        </p:spPr>
        <p:txBody>
          <a:bodyPr/>
          <a:lstStyle/>
          <a:p>
            <a:endParaRPr lang="en-US"/>
          </a:p>
        </p:txBody>
      </p:sp>
      <p:sp>
        <p:nvSpPr>
          <p:cNvPr id="9" name="Shape 7"/>
          <p:cNvSpPr/>
          <p:nvPr/>
        </p:nvSpPr>
        <p:spPr>
          <a:xfrm>
            <a:off x="6492240" y="1554480"/>
            <a:ext cx="73152" cy="2194560"/>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6720840" y="1737360"/>
            <a:ext cx="484632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EPA eGRID 2014</a:t>
            </a:r>
            <a:endParaRPr lang="en-US" sz="1100" dirty="0"/>
          </a:p>
        </p:txBody>
      </p:sp>
      <p:sp>
        <p:nvSpPr>
          <p:cNvPr id="11" name="Text 9"/>
          <p:cNvSpPr/>
          <p:nvPr/>
        </p:nvSpPr>
        <p:spPr>
          <a:xfrm>
            <a:off x="6812280" y="2057400"/>
            <a:ext cx="4754880" cy="16002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E2E8F0"/>
                </a:solidFill>
                <a:latin typeface="Calibri" pitchFamily="34" charset="0"/>
                <a:ea typeface="Calibri" pitchFamily="34" charset="-122"/>
                <a:cs typeface="Calibri" pitchFamily="34" charset="-120"/>
              </a:rPr>
              <a:t>Annual CO₂ emissions and intensity (lbs/MWh)</a:t>
            </a:r>
            <a:endParaRPr lang="en-US" sz="1200" dirty="0"/>
          </a:p>
          <a:p>
            <a:pPr marL="342900" indent="-342900">
              <a:spcAft>
                <a:spcPts val="300"/>
              </a:spcAft>
              <a:buSzPct val="100000"/>
              <a:buChar char="▸"/>
            </a:pPr>
            <a:r>
              <a:rPr lang="en-US" sz="1200" dirty="0">
                <a:solidFill>
                  <a:srgbClr val="E2E8F0"/>
                </a:solidFill>
                <a:latin typeface="Calibri" pitchFamily="34" charset="0"/>
                <a:ea typeface="Calibri" pitchFamily="34" charset="-122"/>
                <a:cs typeface="Calibri" pitchFamily="34" charset="-120"/>
              </a:rPr>
              <a:t>Nameplate capacity, capacity factor, heat rate</a:t>
            </a:r>
            <a:endParaRPr lang="en-US" sz="1200" dirty="0"/>
          </a:p>
          <a:p>
            <a:pPr marL="342900" indent="-342900">
              <a:spcAft>
                <a:spcPts val="300"/>
              </a:spcAft>
              <a:buSzPct val="100000"/>
              <a:buChar char="▸"/>
            </a:pPr>
            <a:r>
              <a:rPr lang="en-US" sz="1200" dirty="0">
                <a:solidFill>
                  <a:srgbClr val="E2E8F0"/>
                </a:solidFill>
                <a:latin typeface="Calibri" pitchFamily="34" charset="0"/>
                <a:ea typeface="Calibri" pitchFamily="34" charset="-122"/>
                <a:cs typeface="Calibri" pitchFamily="34" charset="-120"/>
              </a:rPr>
              <a:t>Net generation and primary fuel category</a:t>
            </a:r>
            <a:endParaRPr lang="en-US" sz="1200" dirty="0"/>
          </a:p>
          <a:p>
            <a:pPr marL="342900" indent="-342900">
              <a:spcAft>
                <a:spcPts val="300"/>
              </a:spcAft>
              <a:buSzPct val="100000"/>
              <a:buChar char="▸"/>
            </a:pPr>
            <a:r>
              <a:rPr lang="en-US" sz="1200" dirty="0">
                <a:solidFill>
                  <a:srgbClr val="94A3B8"/>
                </a:solidFill>
                <a:latin typeface="Calibri" pitchFamily="34" charset="0"/>
                <a:ea typeface="Calibri" pitchFamily="34" charset="-122"/>
                <a:cs typeface="Calibri" pitchFamily="34" charset="-120"/>
              </a:rPr>
              <a:t>Median imputation, StandardScaler on train split</a:t>
            </a:r>
            <a:endParaRPr lang="en-US" sz="1200" dirty="0"/>
          </a:p>
        </p:txBody>
      </p:sp>
      <p:sp>
        <p:nvSpPr>
          <p:cNvPr id="12" name="Shape 10"/>
          <p:cNvSpPr/>
          <p:nvPr/>
        </p:nvSpPr>
        <p:spPr>
          <a:xfrm>
            <a:off x="457200" y="4023360"/>
            <a:ext cx="11247120" cy="2194560"/>
          </a:xfrm>
          <a:prstGeom prst="rect">
            <a:avLst/>
          </a:prstGeom>
          <a:solidFill>
            <a:srgbClr val="13243A"/>
          </a:solidFill>
          <a:ln w="12700">
            <a:solidFill>
              <a:srgbClr val="13243A"/>
            </a:solidFill>
            <a:prstDash val="solid"/>
          </a:ln>
        </p:spPr>
        <p:txBody>
          <a:bodyPr/>
          <a:lstStyle/>
          <a:p>
            <a:endParaRPr lang="en-US"/>
          </a:p>
        </p:txBody>
      </p:sp>
      <p:sp>
        <p:nvSpPr>
          <p:cNvPr id="13" name="Shape 11"/>
          <p:cNvSpPr/>
          <p:nvPr/>
        </p:nvSpPr>
        <p:spPr>
          <a:xfrm>
            <a:off x="457200" y="4023360"/>
            <a:ext cx="73152" cy="2194560"/>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685800" y="4206240"/>
            <a:ext cx="548640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CLASS IMBALANCE</a:t>
            </a:r>
            <a:endParaRPr lang="en-US" sz="1100" dirty="0"/>
          </a:p>
        </p:txBody>
      </p:sp>
      <p:sp>
        <p:nvSpPr>
          <p:cNvPr id="15" name="Text 13"/>
          <p:cNvSpPr/>
          <p:nvPr/>
        </p:nvSpPr>
        <p:spPr>
          <a:xfrm>
            <a:off x="685800" y="4526280"/>
            <a:ext cx="3657600" cy="1645920"/>
          </a:xfrm>
          <a:prstGeom prst="rect">
            <a:avLst/>
          </a:prstGeom>
          <a:noFill/>
          <a:ln/>
        </p:spPr>
        <p:txBody>
          <a:bodyPr wrap="square" lIns="0" tIns="0" rIns="0" bIns="0" rtlCol="0" anchor="t"/>
          <a:lstStyle/>
          <a:p>
            <a:pPr marL="0" indent="0">
              <a:buNone/>
            </a:pPr>
            <a:r>
              <a:rPr lang="en-US" sz="1300" b="1" dirty="0">
                <a:solidFill>
                  <a:srgbClr val="E2E8F0"/>
                </a:solidFill>
                <a:latin typeface="Calibri" pitchFamily="34" charset="0"/>
                <a:ea typeface="Calibri" pitchFamily="34" charset="-122"/>
                <a:cs typeface="Calibri" pitchFamily="34" charset="-120"/>
              </a:rPr>
              <a:t>GAS outnumbers NUCLEAR 25:1</a:t>
            </a:r>
            <a:endParaRPr lang="en-US" sz="13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dirty="0">
                <a:solidFill>
                  <a:srgbClr val="94A3B8"/>
                </a:solidFill>
                <a:latin typeface="Calibri" pitchFamily="34" charset="0"/>
                <a:ea typeface="Calibri" pitchFamily="34" charset="-122"/>
                <a:cs typeface="Calibri" pitchFamily="34" charset="-120"/>
              </a:rPr>
              <a:t>Addressed via </a:t>
            </a:r>
            <a:r>
              <a:rPr lang="en-US" sz="1300" b="1" dirty="0">
                <a:solidFill>
                  <a:srgbClr val="2DD4BF"/>
                </a:solidFill>
                <a:latin typeface="Calibri" pitchFamily="34" charset="0"/>
                <a:ea typeface="Calibri" pitchFamily="34" charset="-122"/>
                <a:cs typeface="Calibri" pitchFamily="34" charset="-120"/>
              </a:rPr>
              <a:t>WeightedRandomSampler</a:t>
            </a:r>
            <a:r>
              <a:rPr lang="en-US" sz="1300" dirty="0">
                <a:solidFill>
                  <a:srgbClr val="94A3B8"/>
                </a:solidFill>
                <a:latin typeface="Calibri" pitchFamily="34" charset="0"/>
                <a:ea typeface="Calibri" pitchFamily="34" charset="-122"/>
                <a:cs typeface="Calibri" pitchFamily="34" charset="-120"/>
              </a:rPr>
              <a:t> + class-weighted CE loss</a:t>
            </a:r>
            <a:endParaRPr lang="en-US" sz="13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100" dirty="0">
                <a:solidFill>
                  <a:srgbClr val="94A3B8"/>
                </a:solidFill>
                <a:latin typeface="Calibri" pitchFamily="34" charset="0"/>
                <a:ea typeface="Calibri" pitchFamily="34" charset="-122"/>
                <a:cs typeface="Calibri" pitchFamily="34" charset="-120"/>
              </a:rPr>
              <a:t>Rare classes still drive macro-F1, ensuring model selection isn't dominated by the majority class.</a:t>
            </a:r>
            <a:endParaRPr lang="en-US" sz="1300" dirty="0"/>
          </a:p>
        </p:txBody>
      </p:sp>
      <p:graphicFrame>
        <p:nvGraphicFramePr>
          <p:cNvPr id="16" name="Chart 0"/>
          <p:cNvGraphicFramePr/>
          <p:nvPr/>
        </p:nvGraphicFramePr>
        <p:xfrm>
          <a:off x="4572000" y="4206240"/>
          <a:ext cx="694944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Emissions from Above  ·  Scott · Sen · Ronquillo · Rodriguez</a:t>
            </a:r>
            <a:endParaRPr lang="en-US" sz="900" dirty="0"/>
          </a:p>
        </p:txBody>
      </p:sp>
      <p:sp>
        <p:nvSpPr>
          <p:cNvPr id="18" name="Text 15"/>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ea typeface="Calibri" pitchFamily="34" charset="-122"/>
                <a:cs typeface="Calibri" pitchFamily="34" charset="-120"/>
              </a:rPr>
              <a:t>03  ·  METHODOLOGY</a:t>
            </a:r>
            <a:endParaRPr lang="en-US" sz="1000" dirty="0"/>
          </a:p>
        </p:txBody>
      </p:sp>
      <p:sp>
        <p:nvSpPr>
          <p:cNvPr id="3" name="Text 1"/>
          <p:cNvSpPr/>
          <p:nvPr/>
        </p:nvSpPr>
        <p:spPr>
          <a:xfrm>
            <a:off x="457200" y="548640"/>
            <a:ext cx="11247120" cy="7772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ea typeface="Georgia" pitchFamily="34" charset="-122"/>
                <a:cs typeface="Georgia" pitchFamily="34" charset="-120"/>
              </a:rPr>
              <a:t>A four-task pipeline, labels to anomalies</a:t>
            </a:r>
            <a:endParaRPr lang="en-US" sz="2600" dirty="0"/>
          </a:p>
        </p:txBody>
      </p:sp>
      <p:sp>
        <p:nvSpPr>
          <p:cNvPr id="4" name="Shape 2"/>
          <p:cNvSpPr/>
          <p:nvPr/>
        </p:nvSpPr>
        <p:spPr>
          <a:xfrm>
            <a:off x="457200" y="1463040"/>
            <a:ext cx="5532120" cy="2331720"/>
          </a:xfrm>
          <a:prstGeom prst="rect">
            <a:avLst/>
          </a:prstGeom>
          <a:solidFill>
            <a:srgbClr val="13243A"/>
          </a:solidFill>
          <a:ln w="12700">
            <a:solidFill>
              <a:srgbClr val="13243A"/>
            </a:solidFill>
            <a:prstDash val="solid"/>
          </a:ln>
        </p:spPr>
        <p:txBody>
          <a:bodyPr/>
          <a:lstStyle/>
          <a:p>
            <a:endParaRPr lang="en-US"/>
          </a:p>
        </p:txBody>
      </p:sp>
      <p:sp>
        <p:nvSpPr>
          <p:cNvPr id="5" name="Shape 3"/>
          <p:cNvSpPr/>
          <p:nvPr/>
        </p:nvSpPr>
        <p:spPr>
          <a:xfrm>
            <a:off x="457200" y="1463040"/>
            <a:ext cx="73152" cy="2331720"/>
          </a:xfrm>
          <a:prstGeom prst="rect">
            <a:avLst/>
          </a:prstGeom>
          <a:solidFill>
            <a:srgbClr val="2DD4BF"/>
          </a:solidFill>
          <a:ln w="12700">
            <a:solidFill>
              <a:srgbClr val="2DD4BF"/>
            </a:solidFill>
            <a:prstDash val="solid"/>
          </a:ln>
        </p:spPr>
        <p:txBody>
          <a:bodyPr/>
          <a:lstStyle/>
          <a:p>
            <a:endParaRPr lang="en-US"/>
          </a:p>
        </p:txBody>
      </p:sp>
      <p:sp>
        <p:nvSpPr>
          <p:cNvPr id="6" name="Text 4"/>
          <p:cNvSpPr/>
          <p:nvPr/>
        </p:nvSpPr>
        <p:spPr>
          <a:xfrm>
            <a:off x="685800" y="1645920"/>
            <a:ext cx="5166360" cy="274320"/>
          </a:xfrm>
          <a:prstGeom prst="rect">
            <a:avLst/>
          </a:prstGeom>
          <a:noFill/>
          <a:ln/>
        </p:spPr>
        <p:txBody>
          <a:bodyPr wrap="square" lIns="0" tIns="0" rIns="0" bIns="0" rtlCol="0" anchor="ctr"/>
          <a:lstStyle/>
          <a:p>
            <a:pPr marL="0" indent="0">
              <a:buNone/>
            </a:pPr>
            <a:r>
              <a:rPr lang="en-US" sz="1100" b="1" kern="0" spc="300" dirty="0">
                <a:solidFill>
                  <a:srgbClr val="2DD4BF"/>
                </a:solidFill>
                <a:latin typeface="Calibri" pitchFamily="34" charset="0"/>
                <a:ea typeface="Calibri" pitchFamily="34" charset="-122"/>
                <a:cs typeface="Calibri" pitchFamily="34" charset="-120"/>
              </a:rPr>
              <a:t>TASK 1</a:t>
            </a:r>
            <a:endParaRPr lang="en-US" sz="1100" dirty="0"/>
          </a:p>
        </p:txBody>
      </p:sp>
      <p:sp>
        <p:nvSpPr>
          <p:cNvPr id="7" name="Text 5"/>
          <p:cNvSpPr/>
          <p:nvPr/>
        </p:nvSpPr>
        <p:spPr>
          <a:xfrm>
            <a:off x="685800" y="1920240"/>
            <a:ext cx="5166360" cy="457200"/>
          </a:xfrm>
          <a:prstGeom prst="rect">
            <a:avLst/>
          </a:prstGeom>
          <a:noFill/>
          <a:ln/>
        </p:spPr>
        <p:txBody>
          <a:bodyPr wrap="square" lIns="0" tIns="0" rIns="0" bIns="0" rtlCol="0" anchor="ctr"/>
          <a:lstStyle/>
          <a:p>
            <a:pPr marL="0" indent="0">
              <a:buNone/>
            </a:pPr>
            <a:r>
              <a:rPr lang="en-US" sz="2000" b="1" dirty="0">
                <a:solidFill>
                  <a:srgbClr val="E2E8F0"/>
                </a:solidFill>
                <a:latin typeface="Georgia" pitchFamily="34" charset="0"/>
                <a:ea typeface="Georgia" pitchFamily="34" charset="-122"/>
                <a:cs typeface="Georgia" pitchFamily="34" charset="-120"/>
              </a:rPr>
              <a:t>Binary Classification</a:t>
            </a:r>
            <a:endParaRPr lang="en-US" sz="2000" dirty="0"/>
          </a:p>
        </p:txBody>
      </p:sp>
      <p:sp>
        <p:nvSpPr>
          <p:cNvPr id="8" name="Text 6"/>
          <p:cNvSpPr/>
          <p:nvPr/>
        </p:nvSpPr>
        <p:spPr>
          <a:xfrm>
            <a:off x="685800" y="2377440"/>
            <a:ext cx="5166360" cy="27432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High vs. low pollution</a:t>
            </a:r>
            <a:endParaRPr lang="en-US" sz="1200" dirty="0"/>
          </a:p>
        </p:txBody>
      </p:sp>
      <p:sp>
        <p:nvSpPr>
          <p:cNvPr id="9" name="Text 7"/>
          <p:cNvSpPr/>
          <p:nvPr/>
        </p:nvSpPr>
        <p:spPr>
          <a:xfrm>
            <a:off x="685800" y="2697480"/>
            <a:ext cx="5166360" cy="1005840"/>
          </a:xfrm>
          <a:prstGeom prst="rect">
            <a:avLst/>
          </a:prstGeom>
          <a:noFill/>
          <a:ln/>
        </p:spPr>
        <p:txBody>
          <a:bodyPr wrap="square" lIns="0" tIns="0" rIns="0" bIns="0" rtlCol="0" anchor="t"/>
          <a:lstStyle/>
          <a:p>
            <a:pPr marL="0" indent="0">
              <a:buNone/>
            </a:pPr>
            <a:r>
              <a:rPr lang="en-US" sz="1200" dirty="0">
                <a:solidFill>
                  <a:srgbClr val="E2E8F0"/>
                </a:solidFill>
                <a:latin typeface="Calibri" pitchFamily="34" charset="0"/>
                <a:ea typeface="Calibri" pitchFamily="34" charset="-122"/>
                <a:cs typeface="Calibri" pitchFamily="34" charset="-120"/>
              </a:rPr>
              <a:t>ResNet-18 fine-tuned from ImageNet, dropout (p=0.3), AdamW + cosine LR over 30 epochs. WeightedRandomSampler with class-weighted CE. Grad-CAM validates spatial attention.</a:t>
            </a:r>
            <a:endParaRPr lang="en-US" sz="1200" dirty="0"/>
          </a:p>
        </p:txBody>
      </p:sp>
      <p:sp>
        <p:nvSpPr>
          <p:cNvPr id="10" name="Shape 8"/>
          <p:cNvSpPr/>
          <p:nvPr/>
        </p:nvSpPr>
        <p:spPr>
          <a:xfrm>
            <a:off x="6172200" y="1463040"/>
            <a:ext cx="5532120" cy="2331720"/>
          </a:xfrm>
          <a:prstGeom prst="rect">
            <a:avLst/>
          </a:prstGeom>
          <a:solidFill>
            <a:srgbClr val="13243A"/>
          </a:solidFill>
          <a:ln w="12700">
            <a:solidFill>
              <a:srgbClr val="13243A"/>
            </a:solidFill>
            <a:prstDash val="solid"/>
          </a:ln>
        </p:spPr>
        <p:txBody>
          <a:bodyPr/>
          <a:lstStyle/>
          <a:p>
            <a:endParaRPr lang="en-US"/>
          </a:p>
        </p:txBody>
      </p:sp>
      <p:sp>
        <p:nvSpPr>
          <p:cNvPr id="11" name="Shape 9"/>
          <p:cNvSpPr/>
          <p:nvPr/>
        </p:nvSpPr>
        <p:spPr>
          <a:xfrm>
            <a:off x="6172200" y="1463040"/>
            <a:ext cx="73152" cy="2331720"/>
          </a:xfrm>
          <a:prstGeom prst="rect">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6400800" y="1645920"/>
            <a:ext cx="516636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TASK 2</a:t>
            </a:r>
            <a:endParaRPr lang="en-US" sz="1100" dirty="0"/>
          </a:p>
        </p:txBody>
      </p:sp>
      <p:sp>
        <p:nvSpPr>
          <p:cNvPr id="13" name="Text 11"/>
          <p:cNvSpPr/>
          <p:nvPr/>
        </p:nvSpPr>
        <p:spPr>
          <a:xfrm>
            <a:off x="6400800" y="1920240"/>
            <a:ext cx="5166360" cy="457200"/>
          </a:xfrm>
          <a:prstGeom prst="rect">
            <a:avLst/>
          </a:prstGeom>
          <a:noFill/>
          <a:ln/>
        </p:spPr>
        <p:txBody>
          <a:bodyPr wrap="square" lIns="0" tIns="0" rIns="0" bIns="0" rtlCol="0" anchor="ctr"/>
          <a:lstStyle/>
          <a:p>
            <a:pPr marL="0" indent="0">
              <a:buNone/>
            </a:pPr>
            <a:r>
              <a:rPr lang="en-US" sz="2000" b="1" dirty="0">
                <a:solidFill>
                  <a:srgbClr val="E2E8F0"/>
                </a:solidFill>
                <a:latin typeface="Georgia" pitchFamily="34" charset="0"/>
                <a:ea typeface="Georgia" pitchFamily="34" charset="-122"/>
                <a:cs typeface="Georgia" pitchFamily="34" charset="-120"/>
              </a:rPr>
              <a:t>Fuel-type Detection</a:t>
            </a:r>
            <a:endParaRPr lang="en-US" sz="2000" dirty="0"/>
          </a:p>
        </p:txBody>
      </p:sp>
      <p:sp>
        <p:nvSpPr>
          <p:cNvPr id="14" name="Text 12"/>
          <p:cNvSpPr/>
          <p:nvPr/>
        </p:nvSpPr>
        <p:spPr>
          <a:xfrm>
            <a:off x="6400800" y="2377440"/>
            <a:ext cx="5166360" cy="27432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8-class multi-class</a:t>
            </a:r>
            <a:endParaRPr lang="en-US" sz="1200" dirty="0"/>
          </a:p>
        </p:txBody>
      </p:sp>
      <p:sp>
        <p:nvSpPr>
          <p:cNvPr id="15" name="Text 13"/>
          <p:cNvSpPr/>
          <p:nvPr/>
        </p:nvSpPr>
        <p:spPr>
          <a:xfrm>
            <a:off x="6400800" y="2697480"/>
            <a:ext cx="5166360" cy="1005840"/>
          </a:xfrm>
          <a:prstGeom prst="rect">
            <a:avLst/>
          </a:prstGeom>
          <a:noFill/>
          <a:ln/>
        </p:spPr>
        <p:txBody>
          <a:bodyPr wrap="square" lIns="0" tIns="0" rIns="0" bIns="0" rtlCol="0" anchor="t"/>
          <a:lstStyle/>
          <a:p>
            <a:pPr marL="0" indent="0">
              <a:buNone/>
            </a:pPr>
            <a:r>
              <a:rPr lang="en-US" sz="1200" dirty="0">
                <a:solidFill>
                  <a:srgbClr val="E2E8F0"/>
                </a:solidFill>
                <a:latin typeface="Calibri" pitchFamily="34" charset="0"/>
                <a:ea typeface="Calibri" pitchFamily="34" charset="-122"/>
                <a:cs typeface="Calibri" pitchFamily="34" charset="-120"/>
              </a:rPr>
              <a:t>EfficientNet-B0 fine-tuned, macro-F1 model selection prevents the dominant GAS class from masking poor minority performance. t-SNE / PCA assess latent separability.</a:t>
            </a:r>
            <a:endParaRPr lang="en-US" sz="1200" dirty="0"/>
          </a:p>
        </p:txBody>
      </p:sp>
      <p:sp>
        <p:nvSpPr>
          <p:cNvPr id="16" name="Shape 14"/>
          <p:cNvSpPr/>
          <p:nvPr/>
        </p:nvSpPr>
        <p:spPr>
          <a:xfrm>
            <a:off x="457200" y="3977640"/>
            <a:ext cx="5532120" cy="2331720"/>
          </a:xfrm>
          <a:prstGeom prst="rect">
            <a:avLst/>
          </a:prstGeom>
          <a:solidFill>
            <a:srgbClr val="13243A"/>
          </a:solidFill>
          <a:ln w="12700">
            <a:solidFill>
              <a:srgbClr val="13243A"/>
            </a:solidFill>
            <a:prstDash val="solid"/>
          </a:ln>
        </p:spPr>
        <p:txBody>
          <a:bodyPr/>
          <a:lstStyle/>
          <a:p>
            <a:endParaRPr lang="en-US"/>
          </a:p>
        </p:txBody>
      </p:sp>
      <p:sp>
        <p:nvSpPr>
          <p:cNvPr id="17" name="Shape 15"/>
          <p:cNvSpPr/>
          <p:nvPr/>
        </p:nvSpPr>
        <p:spPr>
          <a:xfrm>
            <a:off x="457200" y="3977640"/>
            <a:ext cx="73152" cy="2331720"/>
          </a:xfrm>
          <a:prstGeom prst="rect">
            <a:avLst/>
          </a:prstGeom>
          <a:solidFill>
            <a:srgbClr val="2DD4BF"/>
          </a:solidFill>
          <a:ln w="12700">
            <a:solidFill>
              <a:srgbClr val="2DD4BF"/>
            </a:solidFill>
            <a:prstDash val="solid"/>
          </a:ln>
        </p:spPr>
        <p:txBody>
          <a:bodyPr/>
          <a:lstStyle/>
          <a:p>
            <a:endParaRPr lang="en-US"/>
          </a:p>
        </p:txBody>
      </p:sp>
      <p:sp>
        <p:nvSpPr>
          <p:cNvPr id="18" name="Text 16"/>
          <p:cNvSpPr/>
          <p:nvPr/>
        </p:nvSpPr>
        <p:spPr>
          <a:xfrm>
            <a:off x="685800" y="4160520"/>
            <a:ext cx="5166360" cy="274320"/>
          </a:xfrm>
          <a:prstGeom prst="rect">
            <a:avLst/>
          </a:prstGeom>
          <a:noFill/>
          <a:ln/>
        </p:spPr>
        <p:txBody>
          <a:bodyPr wrap="square" lIns="0" tIns="0" rIns="0" bIns="0" rtlCol="0" anchor="ctr"/>
          <a:lstStyle/>
          <a:p>
            <a:pPr marL="0" indent="0">
              <a:buNone/>
            </a:pPr>
            <a:r>
              <a:rPr lang="en-US" sz="1100" b="1" kern="0" spc="300" dirty="0">
                <a:solidFill>
                  <a:srgbClr val="2DD4BF"/>
                </a:solidFill>
                <a:latin typeface="Calibri" pitchFamily="34" charset="0"/>
                <a:ea typeface="Calibri" pitchFamily="34" charset="-122"/>
                <a:cs typeface="Calibri" pitchFamily="34" charset="-120"/>
              </a:rPr>
              <a:t>TASK 3</a:t>
            </a:r>
            <a:endParaRPr lang="en-US" sz="1100" dirty="0"/>
          </a:p>
        </p:txBody>
      </p:sp>
      <p:sp>
        <p:nvSpPr>
          <p:cNvPr id="19" name="Text 17"/>
          <p:cNvSpPr/>
          <p:nvPr/>
        </p:nvSpPr>
        <p:spPr>
          <a:xfrm>
            <a:off x="685800" y="4434840"/>
            <a:ext cx="5166360" cy="457200"/>
          </a:xfrm>
          <a:prstGeom prst="rect">
            <a:avLst/>
          </a:prstGeom>
          <a:noFill/>
          <a:ln/>
        </p:spPr>
        <p:txBody>
          <a:bodyPr wrap="square" lIns="0" tIns="0" rIns="0" bIns="0" rtlCol="0" anchor="ctr"/>
          <a:lstStyle/>
          <a:p>
            <a:pPr marL="0" indent="0">
              <a:buNone/>
            </a:pPr>
            <a:r>
              <a:rPr lang="en-US" sz="2000" b="1" dirty="0">
                <a:solidFill>
                  <a:srgbClr val="E2E8F0"/>
                </a:solidFill>
                <a:latin typeface="Georgia" pitchFamily="34" charset="0"/>
                <a:ea typeface="Georgia" pitchFamily="34" charset="-122"/>
                <a:cs typeface="Georgia" pitchFamily="34" charset="-120"/>
              </a:rPr>
              <a:t>Emissions Regression</a:t>
            </a:r>
            <a:endParaRPr lang="en-US" sz="2000" dirty="0"/>
          </a:p>
        </p:txBody>
      </p:sp>
      <p:sp>
        <p:nvSpPr>
          <p:cNvPr id="20" name="Text 18"/>
          <p:cNvSpPr/>
          <p:nvPr/>
        </p:nvSpPr>
        <p:spPr>
          <a:xfrm>
            <a:off x="685800" y="4892040"/>
            <a:ext cx="5166360" cy="27432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Continuous CO₂ intensity</a:t>
            </a:r>
            <a:endParaRPr lang="en-US" sz="1200" dirty="0"/>
          </a:p>
        </p:txBody>
      </p:sp>
      <p:sp>
        <p:nvSpPr>
          <p:cNvPr id="21" name="Text 19"/>
          <p:cNvSpPr/>
          <p:nvPr/>
        </p:nvSpPr>
        <p:spPr>
          <a:xfrm>
            <a:off x="685800" y="5212080"/>
            <a:ext cx="5166360" cy="1005840"/>
          </a:xfrm>
          <a:prstGeom prst="rect">
            <a:avLst/>
          </a:prstGeom>
          <a:noFill/>
          <a:ln/>
        </p:spPr>
        <p:txBody>
          <a:bodyPr wrap="square" lIns="0" tIns="0" rIns="0" bIns="0" rtlCol="0" anchor="t"/>
          <a:lstStyle/>
          <a:p>
            <a:pPr marL="0" indent="0">
              <a:buNone/>
            </a:pPr>
            <a:r>
              <a:rPr lang="en-US" sz="1200" dirty="0">
                <a:solidFill>
                  <a:srgbClr val="E2E8F0"/>
                </a:solidFill>
                <a:latin typeface="Calibri" pitchFamily="34" charset="0"/>
                <a:ea typeface="Calibri" pitchFamily="34" charset="-122"/>
                <a:cs typeface="Calibri" pitchFamily="34" charset="-120"/>
              </a:rPr>
              <a:t>Three-way comparison: GBT tabular baseline, CNN image-only, late-fusion multimodal. Huber loss reduces outlier sensitivity on the heavy-tailed emissions distribution.</a:t>
            </a:r>
            <a:endParaRPr lang="en-US" sz="1200" dirty="0"/>
          </a:p>
        </p:txBody>
      </p:sp>
      <p:sp>
        <p:nvSpPr>
          <p:cNvPr id="22" name="Shape 20"/>
          <p:cNvSpPr/>
          <p:nvPr/>
        </p:nvSpPr>
        <p:spPr>
          <a:xfrm>
            <a:off x="6172200" y="3977640"/>
            <a:ext cx="5532120" cy="2331720"/>
          </a:xfrm>
          <a:prstGeom prst="rect">
            <a:avLst/>
          </a:prstGeom>
          <a:solidFill>
            <a:srgbClr val="13243A"/>
          </a:solidFill>
          <a:ln w="12700">
            <a:solidFill>
              <a:srgbClr val="13243A"/>
            </a:solidFill>
            <a:prstDash val="solid"/>
          </a:ln>
        </p:spPr>
        <p:txBody>
          <a:bodyPr/>
          <a:lstStyle/>
          <a:p>
            <a:endParaRPr lang="en-US"/>
          </a:p>
        </p:txBody>
      </p:sp>
      <p:sp>
        <p:nvSpPr>
          <p:cNvPr id="23" name="Shape 21"/>
          <p:cNvSpPr/>
          <p:nvPr/>
        </p:nvSpPr>
        <p:spPr>
          <a:xfrm>
            <a:off x="6172200" y="3977640"/>
            <a:ext cx="73152" cy="2331720"/>
          </a:xfrm>
          <a:prstGeom prst="rect">
            <a:avLst/>
          </a:prstGeom>
          <a:solidFill>
            <a:srgbClr val="F59E0B"/>
          </a:solidFill>
          <a:ln w="12700">
            <a:solidFill>
              <a:srgbClr val="F59E0B"/>
            </a:solidFill>
            <a:prstDash val="solid"/>
          </a:ln>
        </p:spPr>
        <p:txBody>
          <a:bodyPr/>
          <a:lstStyle/>
          <a:p>
            <a:endParaRPr lang="en-US"/>
          </a:p>
        </p:txBody>
      </p:sp>
      <p:sp>
        <p:nvSpPr>
          <p:cNvPr id="24" name="Text 22"/>
          <p:cNvSpPr/>
          <p:nvPr/>
        </p:nvSpPr>
        <p:spPr>
          <a:xfrm>
            <a:off x="6400800" y="4160520"/>
            <a:ext cx="516636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TASK 4</a:t>
            </a:r>
            <a:endParaRPr lang="en-US" sz="1100" dirty="0"/>
          </a:p>
        </p:txBody>
      </p:sp>
      <p:sp>
        <p:nvSpPr>
          <p:cNvPr id="25" name="Text 23"/>
          <p:cNvSpPr/>
          <p:nvPr/>
        </p:nvSpPr>
        <p:spPr>
          <a:xfrm>
            <a:off x="6400800" y="4434840"/>
            <a:ext cx="5166360" cy="457200"/>
          </a:xfrm>
          <a:prstGeom prst="rect">
            <a:avLst/>
          </a:prstGeom>
          <a:noFill/>
          <a:ln/>
        </p:spPr>
        <p:txBody>
          <a:bodyPr wrap="square" lIns="0" tIns="0" rIns="0" bIns="0" rtlCol="0" anchor="ctr"/>
          <a:lstStyle/>
          <a:p>
            <a:pPr marL="0" indent="0">
              <a:buNone/>
            </a:pPr>
            <a:r>
              <a:rPr lang="en-US" sz="2000" b="1" dirty="0">
                <a:solidFill>
                  <a:srgbClr val="E2E8F0"/>
                </a:solidFill>
                <a:latin typeface="Georgia" pitchFamily="34" charset="0"/>
                <a:ea typeface="Georgia" pitchFamily="34" charset="-122"/>
                <a:cs typeface="Georgia" pitchFamily="34" charset="-120"/>
              </a:rPr>
              <a:t>Anomaly Detection</a:t>
            </a:r>
            <a:endParaRPr lang="en-US" sz="2000" dirty="0"/>
          </a:p>
        </p:txBody>
      </p:sp>
      <p:sp>
        <p:nvSpPr>
          <p:cNvPr id="26" name="Text 24"/>
          <p:cNvSpPr/>
          <p:nvPr/>
        </p:nvSpPr>
        <p:spPr>
          <a:xfrm>
            <a:off x="6400800" y="4892040"/>
            <a:ext cx="5166360" cy="27432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Flag under-reporting</a:t>
            </a:r>
            <a:endParaRPr lang="en-US" sz="1200" dirty="0"/>
          </a:p>
        </p:txBody>
      </p:sp>
      <p:sp>
        <p:nvSpPr>
          <p:cNvPr id="27" name="Text 25"/>
          <p:cNvSpPr/>
          <p:nvPr/>
        </p:nvSpPr>
        <p:spPr>
          <a:xfrm>
            <a:off x="6400800" y="5212080"/>
            <a:ext cx="5166360" cy="1005840"/>
          </a:xfrm>
          <a:prstGeom prst="rect">
            <a:avLst/>
          </a:prstGeom>
          <a:noFill/>
          <a:ln/>
        </p:spPr>
        <p:txBody>
          <a:bodyPr wrap="square" lIns="0" tIns="0" rIns="0" bIns="0" rtlCol="0" anchor="t"/>
          <a:lstStyle/>
          <a:p>
            <a:pPr marL="0" indent="0">
              <a:buNone/>
            </a:pPr>
            <a:r>
              <a:rPr lang="en-US" sz="1200" dirty="0">
                <a:solidFill>
                  <a:srgbClr val="E2E8F0"/>
                </a:solidFill>
                <a:latin typeface="Calibri" pitchFamily="34" charset="0"/>
                <a:ea typeface="Calibri" pitchFamily="34" charset="-122"/>
                <a:cs typeface="Calibri" pitchFamily="34" charset="-120"/>
              </a:rPr>
              <a:t>Weighted ensemble: residual Z-score (40%), Isolation Forest on CNN embeddings (25%), One-Class SVM tabular (20%), MC Dropout uncertainty (15%).</a:t>
            </a:r>
            <a:endParaRPr lang="en-US" sz="1200" dirty="0"/>
          </a:p>
        </p:txBody>
      </p:sp>
      <p:sp>
        <p:nvSpPr>
          <p:cNvPr id="28" name="Shape 26"/>
          <p:cNvSpPr/>
          <p:nvPr/>
        </p:nvSpPr>
        <p:spPr>
          <a:xfrm>
            <a:off x="457200" y="6263640"/>
            <a:ext cx="11247120" cy="0"/>
          </a:xfrm>
          <a:prstGeom prst="rect">
            <a:avLst/>
          </a:prstGeom>
          <a:solidFill>
            <a:srgbClr val="13243A"/>
          </a:solidFill>
          <a:ln w="12700">
            <a:solidFill>
              <a:srgbClr val="13243A"/>
            </a:solidFill>
            <a:prstDash val="solid"/>
          </a:ln>
        </p:spPr>
        <p:txBody>
          <a:bodyPr/>
          <a:lstStyle/>
          <a:p>
            <a:endParaRPr lang="en-US"/>
          </a:p>
        </p:txBody>
      </p:sp>
      <p:sp>
        <p:nvSpPr>
          <p:cNvPr id="29" name="Text 2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Emissions from Above  ·  Scott · Sen · Ronquillo · Rodriguez</a:t>
            </a:r>
            <a:endParaRPr lang="en-US" sz="900" dirty="0"/>
          </a:p>
        </p:txBody>
      </p:sp>
      <p:sp>
        <p:nvSpPr>
          <p:cNvPr id="30" name="Text 28"/>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ea typeface="Calibri" pitchFamily="34" charset="-122"/>
                <a:cs typeface="Calibri" pitchFamily="34" charset="-120"/>
              </a:rPr>
              <a:t>04  ·  TASK 1 RESULTS</a:t>
            </a:r>
            <a:endParaRPr lang="en-US" sz="1000" dirty="0"/>
          </a:p>
        </p:txBody>
      </p:sp>
      <p:sp>
        <p:nvSpPr>
          <p:cNvPr id="3" name="Text 1"/>
          <p:cNvSpPr/>
          <p:nvPr/>
        </p:nvSpPr>
        <p:spPr>
          <a:xfrm>
            <a:off x="457200" y="548640"/>
            <a:ext cx="11247120" cy="7772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ea typeface="Georgia" pitchFamily="34" charset="-122"/>
                <a:cs typeface="Georgia" pitchFamily="34" charset="-120"/>
              </a:rPr>
              <a:t>Imagery alone classifies pollution well</a:t>
            </a:r>
            <a:endParaRPr lang="en-US" sz="2600" dirty="0"/>
          </a:p>
        </p:txBody>
      </p:sp>
      <p:sp>
        <p:nvSpPr>
          <p:cNvPr id="4" name="Shape 2"/>
          <p:cNvSpPr/>
          <p:nvPr/>
        </p:nvSpPr>
        <p:spPr>
          <a:xfrm>
            <a:off x="457200" y="1463040"/>
            <a:ext cx="3657600" cy="1371600"/>
          </a:xfrm>
          <a:prstGeom prst="rect">
            <a:avLst/>
          </a:prstGeom>
          <a:solidFill>
            <a:srgbClr val="13243A"/>
          </a:solidFill>
          <a:ln w="12700">
            <a:solidFill>
              <a:srgbClr val="13243A"/>
            </a:solidFill>
            <a:prstDash val="solid"/>
          </a:ln>
        </p:spPr>
        <p:txBody>
          <a:bodyPr/>
          <a:lstStyle/>
          <a:p>
            <a:endParaRPr lang="en-US"/>
          </a:p>
        </p:txBody>
      </p:sp>
      <p:sp>
        <p:nvSpPr>
          <p:cNvPr id="5" name="Shape 3"/>
          <p:cNvSpPr/>
          <p:nvPr/>
        </p:nvSpPr>
        <p:spPr>
          <a:xfrm>
            <a:off x="457200" y="1463040"/>
            <a:ext cx="73152" cy="1371600"/>
          </a:xfrm>
          <a:prstGeom prst="rect">
            <a:avLst/>
          </a:prstGeom>
          <a:solidFill>
            <a:srgbClr val="2DD4BF"/>
          </a:solidFill>
          <a:ln w="12700">
            <a:solidFill>
              <a:srgbClr val="2DD4BF"/>
            </a:solidFill>
            <a:prstDash val="solid"/>
          </a:ln>
        </p:spPr>
        <p:txBody>
          <a:bodyPr/>
          <a:lstStyle/>
          <a:p>
            <a:endParaRPr lang="en-US"/>
          </a:p>
        </p:txBody>
      </p:sp>
      <p:sp>
        <p:nvSpPr>
          <p:cNvPr id="6" name="Text 4"/>
          <p:cNvSpPr/>
          <p:nvPr/>
        </p:nvSpPr>
        <p:spPr>
          <a:xfrm>
            <a:off x="685800" y="1554480"/>
            <a:ext cx="3383280" cy="822960"/>
          </a:xfrm>
          <a:prstGeom prst="rect">
            <a:avLst/>
          </a:prstGeom>
          <a:noFill/>
          <a:ln/>
        </p:spPr>
        <p:txBody>
          <a:bodyPr wrap="square" lIns="0" tIns="0" rIns="0" bIns="0" rtlCol="0" anchor="ctr"/>
          <a:lstStyle/>
          <a:p>
            <a:pPr marL="0" indent="0">
              <a:buNone/>
            </a:pPr>
            <a:r>
              <a:rPr lang="en-US" sz="4800" b="1" dirty="0">
                <a:solidFill>
                  <a:srgbClr val="2DD4BF"/>
                </a:solidFill>
                <a:latin typeface="Georgia" pitchFamily="34" charset="0"/>
                <a:ea typeface="Georgia" pitchFamily="34" charset="-122"/>
                <a:cs typeface="Georgia" pitchFamily="34" charset="-120"/>
              </a:rPr>
              <a:t>0.866</a:t>
            </a:r>
            <a:endParaRPr lang="en-US" sz="4800" dirty="0"/>
          </a:p>
        </p:txBody>
      </p:sp>
      <p:sp>
        <p:nvSpPr>
          <p:cNvPr id="7" name="Text 5"/>
          <p:cNvSpPr/>
          <p:nvPr/>
        </p:nvSpPr>
        <p:spPr>
          <a:xfrm>
            <a:off x="685800" y="2377440"/>
            <a:ext cx="33832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AUC-ROC on held-out test</a:t>
            </a:r>
            <a:endParaRPr lang="en-US" sz="1100" dirty="0"/>
          </a:p>
        </p:txBody>
      </p:sp>
      <p:sp>
        <p:nvSpPr>
          <p:cNvPr id="8" name="Shape 6"/>
          <p:cNvSpPr/>
          <p:nvPr/>
        </p:nvSpPr>
        <p:spPr>
          <a:xfrm>
            <a:off x="4297680" y="1463040"/>
            <a:ext cx="3657600" cy="1371600"/>
          </a:xfrm>
          <a:prstGeom prst="rect">
            <a:avLst/>
          </a:prstGeom>
          <a:solidFill>
            <a:srgbClr val="13243A"/>
          </a:solidFill>
          <a:ln w="12700">
            <a:solidFill>
              <a:srgbClr val="13243A"/>
            </a:solidFill>
            <a:prstDash val="solid"/>
          </a:ln>
        </p:spPr>
        <p:txBody>
          <a:bodyPr/>
          <a:lstStyle/>
          <a:p>
            <a:endParaRPr lang="en-US"/>
          </a:p>
        </p:txBody>
      </p:sp>
      <p:sp>
        <p:nvSpPr>
          <p:cNvPr id="9" name="Shape 7"/>
          <p:cNvSpPr/>
          <p:nvPr/>
        </p:nvSpPr>
        <p:spPr>
          <a:xfrm>
            <a:off x="4297680" y="1463040"/>
            <a:ext cx="73152" cy="1371600"/>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4526280" y="1554480"/>
            <a:ext cx="3383280" cy="822960"/>
          </a:xfrm>
          <a:prstGeom prst="rect">
            <a:avLst/>
          </a:prstGeom>
          <a:noFill/>
          <a:ln/>
        </p:spPr>
        <p:txBody>
          <a:bodyPr wrap="square" lIns="0" tIns="0" rIns="0" bIns="0" rtlCol="0" anchor="ctr"/>
          <a:lstStyle/>
          <a:p>
            <a:pPr marL="0" indent="0">
              <a:buNone/>
            </a:pPr>
            <a:r>
              <a:rPr lang="en-US" sz="4800" b="1" dirty="0">
                <a:solidFill>
                  <a:srgbClr val="F59E0B"/>
                </a:solidFill>
                <a:latin typeface="Georgia" pitchFamily="34" charset="0"/>
                <a:ea typeface="Georgia" pitchFamily="34" charset="-122"/>
                <a:cs typeface="Georgia" pitchFamily="34" charset="-120"/>
              </a:rPr>
              <a:t>76.4%</a:t>
            </a:r>
            <a:endParaRPr lang="en-US" sz="4800" dirty="0"/>
          </a:p>
        </p:txBody>
      </p:sp>
      <p:sp>
        <p:nvSpPr>
          <p:cNvPr id="11" name="Text 9"/>
          <p:cNvSpPr/>
          <p:nvPr/>
        </p:nvSpPr>
        <p:spPr>
          <a:xfrm>
            <a:off x="4526280" y="2377440"/>
            <a:ext cx="33832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Recall on high-pollution plants</a:t>
            </a:r>
            <a:endParaRPr lang="en-US" sz="1100" dirty="0"/>
          </a:p>
        </p:txBody>
      </p:sp>
      <p:sp>
        <p:nvSpPr>
          <p:cNvPr id="12" name="Shape 10"/>
          <p:cNvSpPr/>
          <p:nvPr/>
        </p:nvSpPr>
        <p:spPr>
          <a:xfrm>
            <a:off x="8138160" y="1463040"/>
            <a:ext cx="3657600" cy="1371600"/>
          </a:xfrm>
          <a:prstGeom prst="rect">
            <a:avLst/>
          </a:prstGeom>
          <a:solidFill>
            <a:srgbClr val="13243A"/>
          </a:solidFill>
          <a:ln w="12700">
            <a:solidFill>
              <a:srgbClr val="13243A"/>
            </a:solidFill>
            <a:prstDash val="solid"/>
          </a:ln>
        </p:spPr>
        <p:txBody>
          <a:bodyPr/>
          <a:lstStyle/>
          <a:p>
            <a:endParaRPr lang="en-US"/>
          </a:p>
        </p:txBody>
      </p:sp>
      <p:sp>
        <p:nvSpPr>
          <p:cNvPr id="13" name="Shape 11"/>
          <p:cNvSpPr/>
          <p:nvPr/>
        </p:nvSpPr>
        <p:spPr>
          <a:xfrm>
            <a:off x="8138160" y="1463040"/>
            <a:ext cx="73152" cy="1371600"/>
          </a:xfrm>
          <a:prstGeom prst="rect">
            <a:avLst/>
          </a:prstGeom>
          <a:solidFill>
            <a:srgbClr val="2DD4BF"/>
          </a:solidFill>
          <a:ln w="12700">
            <a:solidFill>
              <a:srgbClr val="2DD4BF"/>
            </a:solidFill>
            <a:prstDash val="solid"/>
          </a:ln>
        </p:spPr>
        <p:txBody>
          <a:bodyPr/>
          <a:lstStyle/>
          <a:p>
            <a:endParaRPr lang="en-US"/>
          </a:p>
        </p:txBody>
      </p:sp>
      <p:sp>
        <p:nvSpPr>
          <p:cNvPr id="14" name="Text 12"/>
          <p:cNvSpPr/>
          <p:nvPr/>
        </p:nvSpPr>
        <p:spPr>
          <a:xfrm>
            <a:off x="8366760" y="1554480"/>
            <a:ext cx="3383280" cy="822960"/>
          </a:xfrm>
          <a:prstGeom prst="rect">
            <a:avLst/>
          </a:prstGeom>
          <a:noFill/>
          <a:ln/>
        </p:spPr>
        <p:txBody>
          <a:bodyPr wrap="square" lIns="0" tIns="0" rIns="0" bIns="0" rtlCol="0" anchor="ctr"/>
          <a:lstStyle/>
          <a:p>
            <a:pPr marL="0" indent="0">
              <a:buNone/>
            </a:pPr>
            <a:r>
              <a:rPr lang="en-US" sz="4800" b="1" dirty="0">
                <a:solidFill>
                  <a:srgbClr val="2DD4BF"/>
                </a:solidFill>
                <a:latin typeface="Georgia" pitchFamily="34" charset="0"/>
                <a:ea typeface="Georgia" pitchFamily="34" charset="-122"/>
                <a:cs typeface="Georgia" pitchFamily="34" charset="-120"/>
              </a:rPr>
              <a:t>19.5%</a:t>
            </a:r>
            <a:endParaRPr lang="en-US" sz="4800" dirty="0"/>
          </a:p>
        </p:txBody>
      </p:sp>
      <p:sp>
        <p:nvSpPr>
          <p:cNvPr id="15" name="Text 13"/>
          <p:cNvSpPr/>
          <p:nvPr/>
        </p:nvSpPr>
        <p:spPr>
          <a:xfrm>
            <a:off x="8366760" y="2377440"/>
            <a:ext cx="33832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False-positive rate (Low → High)</a:t>
            </a:r>
            <a:endParaRPr lang="en-US" sz="1100" dirty="0"/>
          </a:p>
        </p:txBody>
      </p:sp>
      <p:sp>
        <p:nvSpPr>
          <p:cNvPr id="16" name="Shape 14"/>
          <p:cNvSpPr/>
          <p:nvPr/>
        </p:nvSpPr>
        <p:spPr>
          <a:xfrm>
            <a:off x="457200" y="3108960"/>
            <a:ext cx="5029200" cy="3108960"/>
          </a:xfrm>
          <a:prstGeom prst="rect">
            <a:avLst/>
          </a:prstGeom>
          <a:solidFill>
            <a:srgbClr val="13243A"/>
          </a:solidFill>
          <a:ln w="12700">
            <a:solidFill>
              <a:srgbClr val="13243A"/>
            </a:solidFill>
            <a:prstDash val="solid"/>
          </a:ln>
        </p:spPr>
        <p:txBody>
          <a:bodyPr/>
          <a:lstStyle/>
          <a:p>
            <a:endParaRPr lang="en-US"/>
          </a:p>
        </p:txBody>
      </p:sp>
      <p:sp>
        <p:nvSpPr>
          <p:cNvPr id="17" name="Shape 15"/>
          <p:cNvSpPr/>
          <p:nvPr/>
        </p:nvSpPr>
        <p:spPr>
          <a:xfrm>
            <a:off x="457200" y="3108960"/>
            <a:ext cx="73152" cy="3108960"/>
          </a:xfrm>
          <a:prstGeom prst="rect">
            <a:avLst/>
          </a:prstGeom>
          <a:solidFill>
            <a:srgbClr val="2DD4BF"/>
          </a:solidFill>
          <a:ln w="12700">
            <a:solidFill>
              <a:srgbClr val="2DD4BF"/>
            </a:solidFill>
            <a:prstDash val="solid"/>
          </a:ln>
        </p:spPr>
        <p:txBody>
          <a:bodyPr/>
          <a:lstStyle/>
          <a:p>
            <a:endParaRPr lang="en-US"/>
          </a:p>
        </p:txBody>
      </p:sp>
      <p:sp>
        <p:nvSpPr>
          <p:cNvPr id="18" name="Text 16"/>
          <p:cNvSpPr/>
          <p:nvPr/>
        </p:nvSpPr>
        <p:spPr>
          <a:xfrm>
            <a:off x="685800" y="3291840"/>
            <a:ext cx="4663440" cy="274320"/>
          </a:xfrm>
          <a:prstGeom prst="rect">
            <a:avLst/>
          </a:prstGeom>
          <a:noFill/>
          <a:ln/>
        </p:spPr>
        <p:txBody>
          <a:bodyPr wrap="square" lIns="0" tIns="0" rIns="0" bIns="0" rtlCol="0" anchor="ctr"/>
          <a:lstStyle/>
          <a:p>
            <a:pPr marL="0" indent="0">
              <a:buNone/>
            </a:pPr>
            <a:r>
              <a:rPr lang="en-US" sz="1100" b="1" kern="0" spc="300" dirty="0">
                <a:solidFill>
                  <a:srgbClr val="2DD4BF"/>
                </a:solidFill>
                <a:latin typeface="Calibri" pitchFamily="34" charset="0"/>
                <a:ea typeface="Calibri" pitchFamily="34" charset="-122"/>
                <a:cs typeface="Calibri" pitchFamily="34" charset="-120"/>
              </a:rPr>
              <a:t>CONFUSION MATRIX  ·  n = 443</a:t>
            </a:r>
            <a:endParaRPr lang="en-US" sz="1100" dirty="0"/>
          </a:p>
        </p:txBody>
      </p:sp>
      <p:sp>
        <p:nvSpPr>
          <p:cNvPr id="19" name="Text 17"/>
          <p:cNvSpPr/>
          <p:nvPr/>
        </p:nvSpPr>
        <p:spPr>
          <a:xfrm>
            <a:off x="1828800" y="3611880"/>
            <a:ext cx="96012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Predicted Low</a:t>
            </a:r>
            <a:endParaRPr lang="en-US" sz="1000" dirty="0"/>
          </a:p>
        </p:txBody>
      </p:sp>
      <p:sp>
        <p:nvSpPr>
          <p:cNvPr id="20" name="Text 18"/>
          <p:cNvSpPr/>
          <p:nvPr/>
        </p:nvSpPr>
        <p:spPr>
          <a:xfrm>
            <a:off x="2788920" y="3611880"/>
            <a:ext cx="96012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Predicted High</a:t>
            </a:r>
            <a:endParaRPr lang="en-US" sz="1000" dirty="0"/>
          </a:p>
        </p:txBody>
      </p:sp>
      <p:sp>
        <p:nvSpPr>
          <p:cNvPr id="21" name="Text 19"/>
          <p:cNvSpPr/>
          <p:nvPr/>
        </p:nvSpPr>
        <p:spPr>
          <a:xfrm>
            <a:off x="822960" y="429768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True Low</a:t>
            </a:r>
            <a:endParaRPr lang="en-US" sz="1000" dirty="0"/>
          </a:p>
        </p:txBody>
      </p:sp>
      <p:sp>
        <p:nvSpPr>
          <p:cNvPr id="22" name="Text 20"/>
          <p:cNvSpPr/>
          <p:nvPr/>
        </p:nvSpPr>
        <p:spPr>
          <a:xfrm>
            <a:off x="822960" y="525780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True High</a:t>
            </a:r>
            <a:endParaRPr lang="en-US" sz="1000" dirty="0"/>
          </a:p>
        </p:txBody>
      </p:sp>
      <p:sp>
        <p:nvSpPr>
          <p:cNvPr id="23" name="Shape 21"/>
          <p:cNvSpPr/>
          <p:nvPr/>
        </p:nvSpPr>
        <p:spPr>
          <a:xfrm>
            <a:off x="1828800" y="3977640"/>
            <a:ext cx="960120" cy="960120"/>
          </a:xfrm>
          <a:prstGeom prst="rect">
            <a:avLst/>
          </a:prstGeom>
          <a:solidFill>
            <a:srgbClr val="0D9488"/>
          </a:solidFill>
          <a:ln w="12700">
            <a:solidFill>
              <a:srgbClr val="13243A"/>
            </a:solidFill>
            <a:prstDash val="solid"/>
          </a:ln>
        </p:spPr>
        <p:txBody>
          <a:bodyPr/>
          <a:lstStyle/>
          <a:p>
            <a:endParaRPr lang="en-US"/>
          </a:p>
        </p:txBody>
      </p:sp>
      <p:sp>
        <p:nvSpPr>
          <p:cNvPr id="24" name="Text 22"/>
          <p:cNvSpPr/>
          <p:nvPr/>
        </p:nvSpPr>
        <p:spPr>
          <a:xfrm>
            <a:off x="1828800" y="4114800"/>
            <a:ext cx="960120" cy="548640"/>
          </a:xfrm>
          <a:prstGeom prst="rect">
            <a:avLst/>
          </a:prstGeom>
          <a:noFill/>
          <a:ln/>
        </p:spPr>
        <p:txBody>
          <a:bodyPr wrap="square" lIns="0" tIns="0" rIns="0" bIns="0" rtlCol="0" anchor="ctr"/>
          <a:lstStyle/>
          <a:p>
            <a:pPr marL="0" indent="0" algn="ctr">
              <a:buNone/>
            </a:pPr>
            <a:r>
              <a:rPr lang="en-US" sz="2600" b="1" dirty="0">
                <a:solidFill>
                  <a:srgbClr val="E2E8F0"/>
                </a:solidFill>
                <a:latin typeface="Georgia" pitchFamily="34" charset="0"/>
                <a:ea typeface="Georgia" pitchFamily="34" charset="-122"/>
                <a:cs typeface="Georgia" pitchFamily="34" charset="-120"/>
              </a:rPr>
              <a:t>244</a:t>
            </a:r>
            <a:endParaRPr lang="en-US" sz="2600" dirty="0"/>
          </a:p>
        </p:txBody>
      </p:sp>
      <p:sp>
        <p:nvSpPr>
          <p:cNvPr id="25" name="Text 23"/>
          <p:cNvSpPr/>
          <p:nvPr/>
        </p:nvSpPr>
        <p:spPr>
          <a:xfrm>
            <a:off x="1828800" y="4617720"/>
            <a:ext cx="960120" cy="274320"/>
          </a:xfrm>
          <a:prstGeom prst="rect">
            <a:avLst/>
          </a:prstGeom>
          <a:noFill/>
          <a:ln/>
        </p:spPr>
        <p:txBody>
          <a:bodyPr wrap="square" lIns="0" tIns="0" rIns="0" bIns="0"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TN</a:t>
            </a:r>
            <a:endParaRPr lang="en-US" sz="1000" dirty="0"/>
          </a:p>
        </p:txBody>
      </p:sp>
      <p:sp>
        <p:nvSpPr>
          <p:cNvPr id="26" name="Shape 24"/>
          <p:cNvSpPr/>
          <p:nvPr/>
        </p:nvSpPr>
        <p:spPr>
          <a:xfrm>
            <a:off x="2788920" y="3977640"/>
            <a:ext cx="960120" cy="960120"/>
          </a:xfrm>
          <a:prstGeom prst="rect">
            <a:avLst/>
          </a:prstGeom>
          <a:solidFill>
            <a:srgbClr val="F59E0B">
              <a:alpha val="40000"/>
            </a:srgbClr>
          </a:solidFill>
          <a:ln w="12700">
            <a:solidFill>
              <a:srgbClr val="13243A"/>
            </a:solidFill>
            <a:prstDash val="solid"/>
          </a:ln>
        </p:spPr>
        <p:txBody>
          <a:bodyPr/>
          <a:lstStyle/>
          <a:p>
            <a:endParaRPr lang="en-US"/>
          </a:p>
        </p:txBody>
      </p:sp>
      <p:sp>
        <p:nvSpPr>
          <p:cNvPr id="27" name="Text 25"/>
          <p:cNvSpPr/>
          <p:nvPr/>
        </p:nvSpPr>
        <p:spPr>
          <a:xfrm>
            <a:off x="2788920" y="4114800"/>
            <a:ext cx="960120" cy="548640"/>
          </a:xfrm>
          <a:prstGeom prst="rect">
            <a:avLst/>
          </a:prstGeom>
          <a:noFill/>
          <a:ln/>
        </p:spPr>
        <p:txBody>
          <a:bodyPr wrap="square" lIns="0" tIns="0" rIns="0" bIns="0" rtlCol="0" anchor="ctr"/>
          <a:lstStyle/>
          <a:p>
            <a:pPr marL="0" indent="0" algn="ctr">
              <a:buNone/>
            </a:pPr>
            <a:r>
              <a:rPr lang="en-US" sz="2600" b="1" dirty="0">
                <a:solidFill>
                  <a:srgbClr val="E2E8F0"/>
                </a:solidFill>
                <a:latin typeface="Georgia" pitchFamily="34" charset="0"/>
                <a:ea typeface="Georgia" pitchFamily="34" charset="-122"/>
                <a:cs typeface="Georgia" pitchFamily="34" charset="-120"/>
              </a:rPr>
              <a:t>59</a:t>
            </a:r>
            <a:endParaRPr lang="en-US" sz="2600" dirty="0"/>
          </a:p>
        </p:txBody>
      </p:sp>
      <p:sp>
        <p:nvSpPr>
          <p:cNvPr id="28" name="Text 26"/>
          <p:cNvSpPr/>
          <p:nvPr/>
        </p:nvSpPr>
        <p:spPr>
          <a:xfrm>
            <a:off x="2788920" y="4617720"/>
            <a:ext cx="960120" cy="274320"/>
          </a:xfrm>
          <a:prstGeom prst="rect">
            <a:avLst/>
          </a:prstGeom>
          <a:noFill/>
          <a:ln/>
        </p:spPr>
        <p:txBody>
          <a:bodyPr wrap="square" lIns="0" tIns="0" rIns="0" bIns="0"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FP</a:t>
            </a:r>
            <a:endParaRPr lang="en-US" sz="1000" dirty="0"/>
          </a:p>
        </p:txBody>
      </p:sp>
      <p:sp>
        <p:nvSpPr>
          <p:cNvPr id="29" name="Shape 27"/>
          <p:cNvSpPr/>
          <p:nvPr/>
        </p:nvSpPr>
        <p:spPr>
          <a:xfrm>
            <a:off x="1828800" y="4937760"/>
            <a:ext cx="960120" cy="960120"/>
          </a:xfrm>
          <a:prstGeom prst="rect">
            <a:avLst/>
          </a:prstGeom>
          <a:solidFill>
            <a:srgbClr val="F59E0B">
              <a:alpha val="40000"/>
            </a:srgbClr>
          </a:solidFill>
          <a:ln w="12700">
            <a:solidFill>
              <a:srgbClr val="13243A"/>
            </a:solidFill>
            <a:prstDash val="solid"/>
          </a:ln>
        </p:spPr>
        <p:txBody>
          <a:bodyPr/>
          <a:lstStyle/>
          <a:p>
            <a:endParaRPr lang="en-US"/>
          </a:p>
        </p:txBody>
      </p:sp>
      <p:sp>
        <p:nvSpPr>
          <p:cNvPr id="30" name="Text 28"/>
          <p:cNvSpPr/>
          <p:nvPr/>
        </p:nvSpPr>
        <p:spPr>
          <a:xfrm>
            <a:off x="1828800" y="5074920"/>
            <a:ext cx="960120" cy="548640"/>
          </a:xfrm>
          <a:prstGeom prst="rect">
            <a:avLst/>
          </a:prstGeom>
          <a:noFill/>
          <a:ln/>
        </p:spPr>
        <p:txBody>
          <a:bodyPr wrap="square" lIns="0" tIns="0" rIns="0" bIns="0" rtlCol="0" anchor="ctr"/>
          <a:lstStyle/>
          <a:p>
            <a:pPr marL="0" indent="0" algn="ctr">
              <a:buNone/>
            </a:pPr>
            <a:r>
              <a:rPr lang="en-US" sz="2600" b="1" dirty="0">
                <a:solidFill>
                  <a:srgbClr val="E2E8F0"/>
                </a:solidFill>
                <a:latin typeface="Georgia" pitchFamily="34" charset="0"/>
                <a:ea typeface="Georgia" pitchFamily="34" charset="-122"/>
                <a:cs typeface="Georgia" pitchFamily="34" charset="-120"/>
              </a:rPr>
              <a:t>33</a:t>
            </a:r>
            <a:endParaRPr lang="en-US" sz="2600" dirty="0"/>
          </a:p>
        </p:txBody>
      </p:sp>
      <p:sp>
        <p:nvSpPr>
          <p:cNvPr id="31" name="Text 29"/>
          <p:cNvSpPr/>
          <p:nvPr/>
        </p:nvSpPr>
        <p:spPr>
          <a:xfrm>
            <a:off x="1828800" y="5577840"/>
            <a:ext cx="960120" cy="274320"/>
          </a:xfrm>
          <a:prstGeom prst="rect">
            <a:avLst/>
          </a:prstGeom>
          <a:noFill/>
          <a:ln/>
        </p:spPr>
        <p:txBody>
          <a:bodyPr wrap="square" lIns="0" tIns="0" rIns="0" bIns="0"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FN</a:t>
            </a:r>
            <a:endParaRPr lang="en-US" sz="1000" dirty="0"/>
          </a:p>
        </p:txBody>
      </p:sp>
      <p:sp>
        <p:nvSpPr>
          <p:cNvPr id="32" name="Shape 30"/>
          <p:cNvSpPr/>
          <p:nvPr/>
        </p:nvSpPr>
        <p:spPr>
          <a:xfrm>
            <a:off x="2788920" y="4937760"/>
            <a:ext cx="960120" cy="960120"/>
          </a:xfrm>
          <a:prstGeom prst="rect">
            <a:avLst/>
          </a:prstGeom>
          <a:solidFill>
            <a:srgbClr val="0D9488"/>
          </a:solidFill>
          <a:ln w="12700">
            <a:solidFill>
              <a:srgbClr val="13243A"/>
            </a:solidFill>
            <a:prstDash val="solid"/>
          </a:ln>
        </p:spPr>
        <p:txBody>
          <a:bodyPr/>
          <a:lstStyle/>
          <a:p>
            <a:endParaRPr lang="en-US"/>
          </a:p>
        </p:txBody>
      </p:sp>
      <p:sp>
        <p:nvSpPr>
          <p:cNvPr id="33" name="Text 31"/>
          <p:cNvSpPr/>
          <p:nvPr/>
        </p:nvSpPr>
        <p:spPr>
          <a:xfrm>
            <a:off x="2788920" y="5074920"/>
            <a:ext cx="960120" cy="548640"/>
          </a:xfrm>
          <a:prstGeom prst="rect">
            <a:avLst/>
          </a:prstGeom>
          <a:noFill/>
          <a:ln/>
        </p:spPr>
        <p:txBody>
          <a:bodyPr wrap="square" lIns="0" tIns="0" rIns="0" bIns="0" rtlCol="0" anchor="ctr"/>
          <a:lstStyle/>
          <a:p>
            <a:pPr marL="0" indent="0" algn="ctr">
              <a:buNone/>
            </a:pPr>
            <a:r>
              <a:rPr lang="en-US" sz="2600" b="1" dirty="0">
                <a:solidFill>
                  <a:srgbClr val="E2E8F0"/>
                </a:solidFill>
                <a:latin typeface="Georgia" pitchFamily="34" charset="0"/>
                <a:ea typeface="Georgia" pitchFamily="34" charset="-122"/>
                <a:cs typeface="Georgia" pitchFamily="34" charset="-120"/>
              </a:rPr>
              <a:t>107</a:t>
            </a:r>
            <a:endParaRPr lang="en-US" sz="2600" dirty="0"/>
          </a:p>
        </p:txBody>
      </p:sp>
      <p:sp>
        <p:nvSpPr>
          <p:cNvPr id="34" name="Text 32"/>
          <p:cNvSpPr/>
          <p:nvPr/>
        </p:nvSpPr>
        <p:spPr>
          <a:xfrm>
            <a:off x="2788920" y="5577840"/>
            <a:ext cx="960120" cy="274320"/>
          </a:xfrm>
          <a:prstGeom prst="rect">
            <a:avLst/>
          </a:prstGeom>
          <a:noFill/>
          <a:ln/>
        </p:spPr>
        <p:txBody>
          <a:bodyPr wrap="square" lIns="0" tIns="0" rIns="0" bIns="0"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TP</a:t>
            </a:r>
            <a:endParaRPr lang="en-US" sz="1000" dirty="0"/>
          </a:p>
        </p:txBody>
      </p:sp>
      <p:sp>
        <p:nvSpPr>
          <p:cNvPr id="35" name="Shape 33"/>
          <p:cNvSpPr/>
          <p:nvPr/>
        </p:nvSpPr>
        <p:spPr>
          <a:xfrm>
            <a:off x="5760720" y="3108960"/>
            <a:ext cx="5943600" cy="3108960"/>
          </a:xfrm>
          <a:prstGeom prst="rect">
            <a:avLst/>
          </a:prstGeom>
          <a:solidFill>
            <a:srgbClr val="13243A"/>
          </a:solidFill>
          <a:ln w="12700">
            <a:solidFill>
              <a:srgbClr val="13243A"/>
            </a:solidFill>
            <a:prstDash val="solid"/>
          </a:ln>
        </p:spPr>
        <p:txBody>
          <a:bodyPr/>
          <a:lstStyle/>
          <a:p>
            <a:endParaRPr lang="en-US"/>
          </a:p>
        </p:txBody>
      </p:sp>
      <p:sp>
        <p:nvSpPr>
          <p:cNvPr id="36" name="Shape 34"/>
          <p:cNvSpPr/>
          <p:nvPr/>
        </p:nvSpPr>
        <p:spPr>
          <a:xfrm>
            <a:off x="5760720" y="3108960"/>
            <a:ext cx="73152" cy="3108960"/>
          </a:xfrm>
          <a:prstGeom prst="rect">
            <a:avLst/>
          </a:prstGeom>
          <a:solidFill>
            <a:srgbClr val="F59E0B"/>
          </a:solidFill>
          <a:ln w="12700">
            <a:solidFill>
              <a:srgbClr val="F59E0B"/>
            </a:solidFill>
            <a:prstDash val="solid"/>
          </a:ln>
        </p:spPr>
        <p:txBody>
          <a:bodyPr/>
          <a:lstStyle/>
          <a:p>
            <a:endParaRPr lang="en-US"/>
          </a:p>
        </p:txBody>
      </p:sp>
      <p:sp>
        <p:nvSpPr>
          <p:cNvPr id="37" name="Text 35"/>
          <p:cNvSpPr/>
          <p:nvPr/>
        </p:nvSpPr>
        <p:spPr>
          <a:xfrm>
            <a:off x="5989320" y="3291840"/>
            <a:ext cx="557784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INTERPRETATION</a:t>
            </a:r>
            <a:endParaRPr lang="en-US" sz="1100" dirty="0"/>
          </a:p>
        </p:txBody>
      </p:sp>
      <p:sp>
        <p:nvSpPr>
          <p:cNvPr id="38" name="Text 36"/>
          <p:cNvSpPr/>
          <p:nvPr/>
        </p:nvSpPr>
        <p:spPr>
          <a:xfrm>
            <a:off x="6080760" y="3611880"/>
            <a:ext cx="5486400" cy="2468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AUC of 0.866 is well above the 0.5 random baseline (strong discriminative power from 64×64 px patches alone).</a:t>
            </a:r>
            <a:endParaRPr lang="en-US" sz="1200" dirty="0"/>
          </a:p>
          <a:p>
            <a:pPr marL="0" indent="0">
              <a:spcAft>
                <a:spcPts val="400"/>
              </a:spcAft>
              <a:buNone/>
            </a:pPr>
            <a:r>
              <a:rPr lang="en-US" sz="400" dirty="0">
                <a:solidFill>
                  <a:srgbClr val="000000"/>
                </a:solidFill>
                <a:latin typeface="Calibri" pitchFamily="34" charset="0"/>
                <a:ea typeface="Calibri" pitchFamily="34" charset="-122"/>
                <a:cs typeface="Calibri" pitchFamily="34" charset="-120"/>
              </a:rPr>
              <a:t> </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76% recall on high-emitters at a low false-positive rate makes this operationally viable for regulatory triage.</a:t>
            </a:r>
            <a:endParaRPr lang="en-US" sz="1200" dirty="0"/>
          </a:p>
          <a:p>
            <a:pPr marL="0" indent="0">
              <a:spcAft>
                <a:spcPts val="400"/>
              </a:spcAft>
              <a:buNone/>
            </a:pPr>
            <a:r>
              <a:rPr lang="en-US" sz="400" dirty="0">
                <a:solidFill>
                  <a:srgbClr val="000000"/>
                </a:solidFill>
                <a:latin typeface="Calibri" pitchFamily="34" charset="0"/>
                <a:ea typeface="Calibri" pitchFamily="34" charset="-122"/>
                <a:cs typeface="Calibri" pitchFamily="34" charset="-120"/>
              </a:rPr>
              <a:t> </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False positives concentrate near the quartile boundary (Grad-CAM analysis confirms attention is on plant infrastructure, not confounding background texture).</a:t>
            </a:r>
            <a:endParaRPr lang="en-US" sz="1200" dirty="0"/>
          </a:p>
        </p:txBody>
      </p:sp>
      <p:sp>
        <p:nvSpPr>
          <p:cNvPr id="39" name="Text 3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Emissions from Above  ·  Scott · Sen · Ronquillo · Rodriguez</a:t>
            </a:r>
            <a:endParaRPr lang="en-US" sz="900" dirty="0"/>
          </a:p>
        </p:txBody>
      </p:sp>
      <p:sp>
        <p:nvSpPr>
          <p:cNvPr id="40" name="Text 38"/>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ea typeface="Calibri" pitchFamily="34" charset="-122"/>
                <a:cs typeface="Calibri" pitchFamily="34" charset="-120"/>
              </a:rPr>
              <a:t>05  ·  TASK 2 RESULTS</a:t>
            </a:r>
            <a:endParaRPr lang="en-US" sz="1000" dirty="0"/>
          </a:p>
        </p:txBody>
      </p:sp>
      <p:sp>
        <p:nvSpPr>
          <p:cNvPr id="3" name="Text 1"/>
          <p:cNvSpPr/>
          <p:nvPr/>
        </p:nvSpPr>
        <p:spPr>
          <a:xfrm>
            <a:off x="457200" y="548640"/>
            <a:ext cx="11247120" cy="7772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ea typeface="Georgia" pitchFamily="34" charset="-122"/>
                <a:cs typeface="Georgia" pitchFamily="34" charset="-120"/>
              </a:rPr>
              <a:t>Fuel detection: structure beats emissions</a:t>
            </a:r>
            <a:endParaRPr lang="en-US" sz="2600" dirty="0"/>
          </a:p>
        </p:txBody>
      </p:sp>
      <p:graphicFrame>
        <p:nvGraphicFramePr>
          <p:cNvPr id="4" name="Chart 0"/>
          <p:cNvGraphicFramePr/>
          <p:nvPr/>
        </p:nvGraphicFramePr>
        <p:xfrm>
          <a:off x="457200" y="1463040"/>
          <a:ext cx="68580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463040"/>
            <a:ext cx="4114800" cy="1188720"/>
          </a:xfrm>
          <a:prstGeom prst="rect">
            <a:avLst/>
          </a:prstGeom>
          <a:solidFill>
            <a:srgbClr val="13243A"/>
          </a:solidFill>
          <a:ln w="12700">
            <a:solidFill>
              <a:srgbClr val="13243A"/>
            </a:solidFill>
            <a:prstDash val="solid"/>
          </a:ln>
        </p:spPr>
        <p:txBody>
          <a:bodyPr/>
          <a:lstStyle/>
          <a:p>
            <a:endParaRPr lang="en-US"/>
          </a:p>
        </p:txBody>
      </p:sp>
      <p:sp>
        <p:nvSpPr>
          <p:cNvPr id="6" name="Shape 3"/>
          <p:cNvSpPr/>
          <p:nvPr/>
        </p:nvSpPr>
        <p:spPr>
          <a:xfrm>
            <a:off x="7589520" y="1463040"/>
            <a:ext cx="73152" cy="1188720"/>
          </a:xfrm>
          <a:prstGeom prst="rect">
            <a:avLst/>
          </a:prstGeom>
          <a:solidFill>
            <a:srgbClr val="2DD4BF"/>
          </a:solidFill>
          <a:ln w="12700">
            <a:solidFill>
              <a:srgbClr val="2DD4BF"/>
            </a:solidFill>
            <a:prstDash val="solid"/>
          </a:ln>
        </p:spPr>
        <p:txBody>
          <a:bodyPr/>
          <a:lstStyle/>
          <a:p>
            <a:endParaRPr lang="en-US"/>
          </a:p>
        </p:txBody>
      </p:sp>
      <p:sp>
        <p:nvSpPr>
          <p:cNvPr id="7" name="Text 4"/>
          <p:cNvSpPr/>
          <p:nvPr/>
        </p:nvSpPr>
        <p:spPr>
          <a:xfrm>
            <a:off x="7818120" y="1554480"/>
            <a:ext cx="3749040" cy="640080"/>
          </a:xfrm>
          <a:prstGeom prst="rect">
            <a:avLst/>
          </a:prstGeom>
          <a:noFill/>
          <a:ln/>
        </p:spPr>
        <p:txBody>
          <a:bodyPr wrap="square" lIns="0" tIns="0" rIns="0" bIns="0" rtlCol="0" anchor="ctr"/>
          <a:lstStyle/>
          <a:p>
            <a:pPr marL="0" indent="0">
              <a:buNone/>
            </a:pPr>
            <a:r>
              <a:rPr lang="en-US" sz="4000" b="1" dirty="0">
                <a:solidFill>
                  <a:srgbClr val="2DD4BF"/>
                </a:solidFill>
                <a:latin typeface="Georgia" pitchFamily="34" charset="0"/>
                <a:ea typeface="Georgia" pitchFamily="34" charset="-122"/>
                <a:cs typeface="Georgia" pitchFamily="34" charset="-120"/>
              </a:rPr>
              <a:t>39.5%</a:t>
            </a:r>
            <a:endParaRPr lang="en-US" sz="4000" dirty="0"/>
          </a:p>
        </p:txBody>
      </p:sp>
      <p:sp>
        <p:nvSpPr>
          <p:cNvPr id="8" name="Text 5"/>
          <p:cNvSpPr/>
          <p:nvPr/>
        </p:nvSpPr>
        <p:spPr>
          <a:xfrm>
            <a:off x="7818120" y="2194560"/>
            <a:ext cx="3749040" cy="4114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overall accuracy across 8 fuel classes  ·  3.2× random baseline</a:t>
            </a:r>
            <a:endParaRPr lang="en-US" sz="1000" dirty="0"/>
          </a:p>
        </p:txBody>
      </p:sp>
      <p:sp>
        <p:nvSpPr>
          <p:cNvPr id="9" name="Shape 6"/>
          <p:cNvSpPr/>
          <p:nvPr/>
        </p:nvSpPr>
        <p:spPr>
          <a:xfrm>
            <a:off x="7589520" y="2788920"/>
            <a:ext cx="4114800" cy="1554480"/>
          </a:xfrm>
          <a:prstGeom prst="rect">
            <a:avLst/>
          </a:prstGeom>
          <a:solidFill>
            <a:srgbClr val="13243A"/>
          </a:solidFill>
          <a:ln w="12700">
            <a:solidFill>
              <a:srgbClr val="13243A"/>
            </a:solidFill>
            <a:prstDash val="solid"/>
          </a:ln>
        </p:spPr>
        <p:txBody>
          <a:bodyPr/>
          <a:lstStyle/>
          <a:p>
            <a:endParaRPr lang="en-US"/>
          </a:p>
        </p:txBody>
      </p:sp>
      <p:sp>
        <p:nvSpPr>
          <p:cNvPr id="10" name="Shape 7"/>
          <p:cNvSpPr/>
          <p:nvPr/>
        </p:nvSpPr>
        <p:spPr>
          <a:xfrm>
            <a:off x="7589520" y="2788920"/>
            <a:ext cx="73152" cy="1554480"/>
          </a:xfrm>
          <a:prstGeom prst="rect">
            <a:avLst/>
          </a:prstGeom>
          <a:solidFill>
            <a:srgbClr val="2DD4BF"/>
          </a:solidFill>
          <a:ln w="12700">
            <a:solidFill>
              <a:srgbClr val="2DD4BF"/>
            </a:solidFill>
            <a:prstDash val="solid"/>
          </a:ln>
        </p:spPr>
        <p:txBody>
          <a:bodyPr/>
          <a:lstStyle/>
          <a:p>
            <a:endParaRPr lang="en-US"/>
          </a:p>
        </p:txBody>
      </p:sp>
      <p:sp>
        <p:nvSpPr>
          <p:cNvPr id="11" name="Text 8"/>
          <p:cNvSpPr/>
          <p:nvPr/>
        </p:nvSpPr>
        <p:spPr>
          <a:xfrm>
            <a:off x="7818120" y="2926080"/>
            <a:ext cx="3749040" cy="274320"/>
          </a:xfrm>
          <a:prstGeom prst="rect">
            <a:avLst/>
          </a:prstGeom>
          <a:noFill/>
          <a:ln/>
        </p:spPr>
        <p:txBody>
          <a:bodyPr wrap="square" lIns="0" tIns="0" rIns="0" bIns="0" rtlCol="0" anchor="ctr"/>
          <a:lstStyle/>
          <a:p>
            <a:pPr marL="0" indent="0">
              <a:buNone/>
            </a:pPr>
            <a:r>
              <a:rPr lang="en-US" sz="1000" b="1" kern="0" spc="300" dirty="0">
                <a:solidFill>
                  <a:srgbClr val="2DD4BF"/>
                </a:solidFill>
                <a:latin typeface="Calibri" pitchFamily="34" charset="0"/>
                <a:ea typeface="Calibri" pitchFamily="34" charset="-122"/>
                <a:cs typeface="Calibri" pitchFamily="34" charset="-120"/>
              </a:rPr>
              <a:t>WHAT WORKS</a:t>
            </a:r>
            <a:endParaRPr lang="en-US" sz="1000" dirty="0"/>
          </a:p>
        </p:txBody>
      </p:sp>
      <p:sp>
        <p:nvSpPr>
          <p:cNvPr id="12" name="Text 9"/>
          <p:cNvSpPr/>
          <p:nvPr/>
        </p:nvSpPr>
        <p:spPr>
          <a:xfrm>
            <a:off x="7818120" y="3200400"/>
            <a:ext cx="3749040" cy="1097280"/>
          </a:xfrm>
          <a:prstGeom prst="rect">
            <a:avLst/>
          </a:prstGeom>
          <a:noFill/>
          <a:ln/>
        </p:spPr>
        <p:txBody>
          <a:bodyPr wrap="square" lIns="0" tIns="0" rIns="0" bIns="0" rtlCol="0" anchor="t"/>
          <a:lstStyle/>
          <a:p>
            <a:pPr marL="0" indent="0">
              <a:buNone/>
            </a:pPr>
            <a:r>
              <a:rPr lang="en-US" sz="1100" b="1" dirty="0">
                <a:solidFill>
                  <a:srgbClr val="E2E8F0"/>
                </a:solidFill>
                <a:latin typeface="Calibri" pitchFamily="34" charset="0"/>
                <a:ea typeface="Calibri" pitchFamily="34" charset="-122"/>
                <a:cs typeface="Calibri" pitchFamily="34" charset="-120"/>
              </a:rPr>
              <a:t>Structurally distinct plants: </a:t>
            </a:r>
            <a:r>
              <a:rPr lang="en-US" sz="1100" dirty="0">
                <a:solidFill>
                  <a:srgbClr val="94A3B8"/>
                </a:solidFill>
                <a:latin typeface="Calibri" pitchFamily="34" charset="0"/>
                <a:ea typeface="Calibri" pitchFamily="34" charset="-122"/>
                <a:cs typeface="Calibri" pitchFamily="34" charset="-120"/>
              </a:rPr>
              <a:t>HYDRO (68%), WIND (67%), OIL (57%), COAL (51%). They have unique visual footprints even at 15m resolution.</a:t>
            </a:r>
            <a:endParaRPr lang="en-US" sz="1100" dirty="0"/>
          </a:p>
        </p:txBody>
      </p:sp>
      <p:sp>
        <p:nvSpPr>
          <p:cNvPr id="13" name="Shape 10"/>
          <p:cNvSpPr/>
          <p:nvPr/>
        </p:nvSpPr>
        <p:spPr>
          <a:xfrm>
            <a:off x="7589520" y="4480560"/>
            <a:ext cx="4114800" cy="1691640"/>
          </a:xfrm>
          <a:prstGeom prst="rect">
            <a:avLst/>
          </a:prstGeom>
          <a:solidFill>
            <a:srgbClr val="13243A"/>
          </a:solidFill>
          <a:ln w="12700">
            <a:solidFill>
              <a:srgbClr val="13243A"/>
            </a:solidFill>
            <a:prstDash val="solid"/>
          </a:ln>
        </p:spPr>
        <p:txBody>
          <a:bodyPr/>
          <a:lstStyle/>
          <a:p>
            <a:endParaRPr lang="en-US"/>
          </a:p>
        </p:txBody>
      </p:sp>
      <p:sp>
        <p:nvSpPr>
          <p:cNvPr id="14" name="Shape 11"/>
          <p:cNvSpPr/>
          <p:nvPr/>
        </p:nvSpPr>
        <p:spPr>
          <a:xfrm>
            <a:off x="7589520" y="4480560"/>
            <a:ext cx="73152" cy="1691640"/>
          </a:xfrm>
          <a:prstGeom prst="rect">
            <a:avLst/>
          </a:prstGeom>
          <a:solidFill>
            <a:srgbClr val="F59E0B"/>
          </a:solidFill>
          <a:ln w="12700">
            <a:solidFill>
              <a:srgbClr val="F59E0B"/>
            </a:solidFill>
            <a:prstDash val="solid"/>
          </a:ln>
        </p:spPr>
        <p:txBody>
          <a:bodyPr/>
          <a:lstStyle/>
          <a:p>
            <a:endParaRPr lang="en-US"/>
          </a:p>
        </p:txBody>
      </p:sp>
      <p:sp>
        <p:nvSpPr>
          <p:cNvPr id="15" name="Text 12"/>
          <p:cNvSpPr/>
          <p:nvPr/>
        </p:nvSpPr>
        <p:spPr>
          <a:xfrm>
            <a:off x="7818120" y="4617720"/>
            <a:ext cx="3749040" cy="274320"/>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WHAT FAILS</a:t>
            </a:r>
            <a:endParaRPr lang="en-US" sz="1000" dirty="0"/>
          </a:p>
        </p:txBody>
      </p:sp>
      <p:sp>
        <p:nvSpPr>
          <p:cNvPr id="16" name="Text 13"/>
          <p:cNvSpPr/>
          <p:nvPr/>
        </p:nvSpPr>
        <p:spPr>
          <a:xfrm>
            <a:off x="7818120" y="4892040"/>
            <a:ext cx="3749040" cy="1234440"/>
          </a:xfrm>
          <a:prstGeom prst="rect">
            <a:avLst/>
          </a:prstGeom>
          <a:noFill/>
          <a:ln/>
        </p:spPr>
        <p:txBody>
          <a:bodyPr wrap="square" lIns="0" tIns="0" rIns="0" bIns="0" rtlCol="0" anchor="t"/>
          <a:lstStyle/>
          <a:p>
            <a:pPr marL="0" indent="0">
              <a:buNone/>
            </a:pPr>
            <a:r>
              <a:rPr lang="en-US" sz="1100" b="1" dirty="0">
                <a:solidFill>
                  <a:srgbClr val="E2E8F0"/>
                </a:solidFill>
                <a:latin typeface="Calibri" pitchFamily="34" charset="0"/>
                <a:ea typeface="Calibri" pitchFamily="34" charset="-122"/>
                <a:cs typeface="Calibri" pitchFamily="34" charset="-120"/>
              </a:rPr>
              <a:t>Fossil-fuel lookalikes: </a:t>
            </a:r>
            <a:r>
              <a:rPr lang="en-US" sz="1100" dirty="0">
                <a:solidFill>
                  <a:srgbClr val="94A3B8"/>
                </a:solidFill>
                <a:latin typeface="Calibri" pitchFamily="34" charset="0"/>
                <a:ea typeface="Calibri" pitchFamily="34" charset="-122"/>
                <a:cs typeface="Calibri" pitchFamily="34" charset="-120"/>
              </a:rPr>
              <a:t>GAS (6%), NUCLEAR (14%), SOLAR (28%) share thermal-plant configurations or small footprints. t-SNE confirms these classes do not separate cleanly in embedding space.</a:t>
            </a:r>
            <a:endParaRPr lang="en-US" sz="1100" dirty="0"/>
          </a:p>
        </p:txBody>
      </p:sp>
      <p:sp>
        <p:nvSpPr>
          <p:cNvPr id="17" name="Text 14"/>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Emissions from Above  ·  Scott · Sen · Ronquillo · Rodriguez</a:t>
            </a:r>
            <a:endParaRPr lang="en-US" sz="900" dirty="0"/>
          </a:p>
        </p:txBody>
      </p:sp>
      <p:sp>
        <p:nvSpPr>
          <p:cNvPr id="18" name="Text 15"/>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0B1929"/>
        </a:solidFill>
        <a:effectLst/>
      </p:bgPr>
    </p:bg>
    <p:spTree>
      <p:nvGrpSpPr>
        <p:cNvPr id="1" name=""/>
        <p:cNvGrpSpPr/>
        <p:nvPr/>
      </p:nvGrpSpPr>
      <p:grpSpPr>
        <a:xfrm>
          <a:off x="0" y="0"/>
          <a:ext cx="0" cy="0"/>
          <a:chOff x="0" y="0"/>
          <a:chExt cx="0" cy="0"/>
        </a:xfrm>
      </p:grpSpPr>
      <p:sp>
        <p:nvSpPr>
          <p:cNvPr id="2" name="label"/>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rPr>
              <a:t>06  ·  TASK 3 RESULTS</a:t>
            </a:r>
          </a:p>
        </p:txBody>
      </p:sp>
      <p:sp>
        <p:nvSpPr>
          <p:cNvPr id="3" name="title"/>
          <p:cNvSpPr/>
          <p:nvPr/>
        </p:nvSpPr>
        <p:spPr>
          <a:xfrm>
            <a:off x="457200" y="548640"/>
            <a:ext cx="11247120" cy="64008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rPr>
              <a:t>Tabular covariates dominate; fusion beats image alone</a:t>
            </a:r>
          </a:p>
        </p:txBody>
      </p:sp>
      <p:sp>
        <p:nvSpPr>
          <p:cNvPr id="4" name="box1bg"/>
          <p:cNvSpPr/>
          <p:nvPr/>
        </p:nvSpPr>
        <p:spPr>
          <a:xfrm>
            <a:off x="457200" y="1371600"/>
            <a:ext cx="3657600" cy="1280160"/>
          </a:xfrm>
          <a:prstGeom prst="rect">
            <a:avLst/>
          </a:prstGeom>
          <a:solidFill>
            <a:srgbClr val="13243A"/>
          </a:solidFill>
          <a:ln w="12700">
            <a:solidFill>
              <a:srgbClr val="13243A"/>
            </a:solidFill>
          </a:ln>
        </p:spPr>
        <p:txBody>
          <a:bodyPr/>
          <a:lstStyle/>
          <a:p>
            <a:endParaRPr lang="en-US"/>
          </a:p>
        </p:txBody>
      </p:sp>
      <p:sp>
        <p:nvSpPr>
          <p:cNvPr id="5" name="box1accent"/>
          <p:cNvSpPr/>
          <p:nvPr/>
        </p:nvSpPr>
        <p:spPr>
          <a:xfrm>
            <a:off x="457200" y="1371600"/>
            <a:ext cx="73152" cy="1280160"/>
          </a:xfrm>
          <a:prstGeom prst="rect">
            <a:avLst/>
          </a:prstGeom>
          <a:solidFill>
            <a:srgbClr val="2DD4BF"/>
          </a:solidFill>
          <a:ln w="12700">
            <a:solidFill>
              <a:srgbClr val="2DD4BF"/>
            </a:solidFill>
          </a:ln>
        </p:spPr>
        <p:txBody>
          <a:bodyPr/>
          <a:lstStyle/>
          <a:p>
            <a:endParaRPr lang="en-US"/>
          </a:p>
        </p:txBody>
      </p:sp>
      <p:sp>
        <p:nvSpPr>
          <p:cNvPr id="6" name="stat1val"/>
          <p:cNvSpPr/>
          <p:nvPr/>
        </p:nvSpPr>
        <p:spPr>
          <a:xfrm>
            <a:off x="685800" y="1462560"/>
            <a:ext cx="3383280" cy="730440"/>
          </a:xfrm>
          <a:prstGeom prst="rect">
            <a:avLst/>
          </a:prstGeom>
          <a:noFill/>
          <a:ln/>
        </p:spPr>
        <p:txBody>
          <a:bodyPr wrap="square" lIns="0" tIns="0" rIns="0" bIns="0" rtlCol="0" anchor="ctr"/>
          <a:lstStyle/>
          <a:p>
            <a:pPr marL="0" indent="0">
              <a:buNone/>
            </a:pPr>
            <a:r>
              <a:rPr lang="en-US" sz="4400" b="1" dirty="0">
                <a:solidFill>
                  <a:srgbClr val="2DD4BF"/>
                </a:solidFill>
                <a:latin typeface="Georgia" pitchFamily="34" charset="0"/>
              </a:rPr>
              <a:t>0.946</a:t>
            </a:r>
          </a:p>
        </p:txBody>
      </p:sp>
      <p:sp>
        <p:nvSpPr>
          <p:cNvPr id="7" name="stat1lbl"/>
          <p:cNvSpPr/>
          <p:nvPr/>
        </p:nvSpPr>
        <p:spPr>
          <a:xfrm>
            <a:off x="685800" y="2193960"/>
            <a:ext cx="3383280" cy="3657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rPr>
              <a:t>GBT (tabular) R² on test set</a:t>
            </a:r>
          </a:p>
        </p:txBody>
      </p:sp>
      <p:sp>
        <p:nvSpPr>
          <p:cNvPr id="8" name="box2bg"/>
          <p:cNvSpPr/>
          <p:nvPr/>
        </p:nvSpPr>
        <p:spPr>
          <a:xfrm>
            <a:off x="4297680" y="1371600"/>
            <a:ext cx="3657600" cy="1280160"/>
          </a:xfrm>
          <a:prstGeom prst="rect">
            <a:avLst/>
          </a:prstGeom>
          <a:solidFill>
            <a:srgbClr val="13243A"/>
          </a:solidFill>
          <a:ln w="12700">
            <a:solidFill>
              <a:srgbClr val="13243A"/>
            </a:solidFill>
          </a:ln>
        </p:spPr>
        <p:txBody>
          <a:bodyPr/>
          <a:lstStyle/>
          <a:p>
            <a:endParaRPr lang="en-US"/>
          </a:p>
        </p:txBody>
      </p:sp>
      <p:sp>
        <p:nvSpPr>
          <p:cNvPr id="9" name="box2accent"/>
          <p:cNvSpPr/>
          <p:nvPr/>
        </p:nvSpPr>
        <p:spPr>
          <a:xfrm>
            <a:off x="4297680" y="1371600"/>
            <a:ext cx="73152" cy="1280160"/>
          </a:xfrm>
          <a:prstGeom prst="rect">
            <a:avLst/>
          </a:prstGeom>
          <a:solidFill>
            <a:srgbClr val="F59E0B"/>
          </a:solidFill>
          <a:ln w="12700">
            <a:solidFill>
              <a:srgbClr val="F59E0B"/>
            </a:solidFill>
          </a:ln>
        </p:spPr>
        <p:txBody>
          <a:bodyPr/>
          <a:lstStyle/>
          <a:p>
            <a:endParaRPr lang="en-US"/>
          </a:p>
        </p:txBody>
      </p:sp>
      <p:sp>
        <p:nvSpPr>
          <p:cNvPr id="10" name="stat2val"/>
          <p:cNvSpPr/>
          <p:nvPr/>
        </p:nvSpPr>
        <p:spPr>
          <a:xfrm>
            <a:off x="4526280" y="1462560"/>
            <a:ext cx="3383280" cy="730440"/>
          </a:xfrm>
          <a:prstGeom prst="rect">
            <a:avLst/>
          </a:prstGeom>
          <a:noFill/>
          <a:ln/>
        </p:spPr>
        <p:txBody>
          <a:bodyPr wrap="square" lIns="0" tIns="0" rIns="0" bIns="0" rtlCol="0" anchor="ctr"/>
          <a:lstStyle/>
          <a:p>
            <a:pPr marL="0" indent="0">
              <a:buNone/>
            </a:pPr>
            <a:r>
              <a:rPr lang="en-US" sz="4400" b="1" dirty="0">
                <a:solidFill>
                  <a:srgbClr val="F59E0B"/>
                </a:solidFill>
                <a:latin typeface="Georgia" pitchFamily="34" charset="0"/>
              </a:rPr>
              <a:t>0.488</a:t>
            </a:r>
          </a:p>
        </p:txBody>
      </p:sp>
      <p:sp>
        <p:nvSpPr>
          <p:cNvPr id="11" name="stat2lbl"/>
          <p:cNvSpPr/>
          <p:nvPr/>
        </p:nvSpPr>
        <p:spPr>
          <a:xfrm>
            <a:off x="4526280" y="2193960"/>
            <a:ext cx="3383280" cy="3657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rPr>
              <a:t>Late-fusion (image + tabular) R²</a:t>
            </a:r>
          </a:p>
        </p:txBody>
      </p:sp>
      <p:sp>
        <p:nvSpPr>
          <p:cNvPr id="12" name="box3bg"/>
          <p:cNvSpPr/>
          <p:nvPr/>
        </p:nvSpPr>
        <p:spPr>
          <a:xfrm>
            <a:off x="8138160" y="1371600"/>
            <a:ext cx="3566160" cy="1280160"/>
          </a:xfrm>
          <a:prstGeom prst="rect">
            <a:avLst/>
          </a:prstGeom>
          <a:solidFill>
            <a:srgbClr val="13243A"/>
          </a:solidFill>
          <a:ln w="12700">
            <a:solidFill>
              <a:srgbClr val="13243A"/>
            </a:solidFill>
          </a:ln>
        </p:spPr>
        <p:txBody>
          <a:bodyPr/>
          <a:lstStyle/>
          <a:p>
            <a:endParaRPr lang="en-US"/>
          </a:p>
        </p:txBody>
      </p:sp>
      <p:sp>
        <p:nvSpPr>
          <p:cNvPr id="13" name="box3accent"/>
          <p:cNvSpPr/>
          <p:nvPr/>
        </p:nvSpPr>
        <p:spPr>
          <a:xfrm>
            <a:off x="8138160" y="1371600"/>
            <a:ext cx="73152" cy="1280160"/>
          </a:xfrm>
          <a:prstGeom prst="rect">
            <a:avLst/>
          </a:prstGeom>
          <a:solidFill>
            <a:srgbClr val="64748B"/>
          </a:solidFill>
          <a:ln w="12700">
            <a:solidFill>
              <a:srgbClr val="64748B"/>
            </a:solidFill>
          </a:ln>
        </p:spPr>
        <p:txBody>
          <a:bodyPr/>
          <a:lstStyle/>
          <a:p>
            <a:endParaRPr lang="en-US"/>
          </a:p>
        </p:txBody>
      </p:sp>
      <p:sp>
        <p:nvSpPr>
          <p:cNvPr id="14" name="stat3val"/>
          <p:cNvSpPr/>
          <p:nvPr/>
        </p:nvSpPr>
        <p:spPr>
          <a:xfrm>
            <a:off x="8366760" y="1462560"/>
            <a:ext cx="3291840" cy="730440"/>
          </a:xfrm>
          <a:prstGeom prst="rect">
            <a:avLst/>
          </a:prstGeom>
          <a:noFill/>
          <a:ln/>
        </p:spPr>
        <p:txBody>
          <a:bodyPr wrap="square" lIns="0" tIns="0" rIns="0" bIns="0" rtlCol="0" anchor="ctr"/>
          <a:lstStyle/>
          <a:p>
            <a:pPr marL="0" indent="0">
              <a:buNone/>
            </a:pPr>
            <a:r>
              <a:rPr lang="en-US" sz="4400" b="1" dirty="0">
                <a:solidFill>
                  <a:srgbClr val="64748B"/>
                </a:solidFill>
                <a:latin typeface="Georgia" pitchFamily="34" charset="0"/>
              </a:rPr>
              <a:t>0.199</a:t>
            </a:r>
          </a:p>
        </p:txBody>
      </p:sp>
      <p:sp>
        <p:nvSpPr>
          <p:cNvPr id="15" name="stat3lbl"/>
          <p:cNvSpPr/>
          <p:nvPr/>
        </p:nvSpPr>
        <p:spPr>
          <a:xfrm>
            <a:off x="8366760" y="2193960"/>
            <a:ext cx="3291840" cy="3657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rPr>
              <a:t>CNN image-only R²</a:t>
            </a:r>
          </a:p>
        </p:txBody>
      </p:sp>
      <p:sp>
        <p:nvSpPr>
          <p:cNvPr id="16" name="tablebg"/>
          <p:cNvSpPr/>
          <p:nvPr/>
        </p:nvSpPr>
        <p:spPr>
          <a:xfrm>
            <a:off x="457200" y="2925360"/>
            <a:ext cx="5486400" cy="3200400"/>
          </a:xfrm>
          <a:prstGeom prst="rect">
            <a:avLst/>
          </a:prstGeom>
          <a:solidFill>
            <a:srgbClr val="13243A"/>
          </a:solidFill>
          <a:ln w="12700">
            <a:solidFill>
              <a:srgbClr val="13243A"/>
            </a:solidFill>
          </a:ln>
        </p:spPr>
        <p:txBody>
          <a:bodyPr/>
          <a:lstStyle/>
          <a:p>
            <a:endParaRPr lang="en-US"/>
          </a:p>
        </p:txBody>
      </p:sp>
      <p:sp>
        <p:nvSpPr>
          <p:cNvPr id="17" name="tableaccent"/>
          <p:cNvSpPr/>
          <p:nvPr/>
        </p:nvSpPr>
        <p:spPr>
          <a:xfrm>
            <a:off x="457200" y="2925360"/>
            <a:ext cx="73152" cy="3200400"/>
          </a:xfrm>
          <a:prstGeom prst="rect">
            <a:avLst/>
          </a:prstGeom>
          <a:solidFill>
            <a:srgbClr val="2DD4BF"/>
          </a:solidFill>
          <a:ln w="12700">
            <a:solidFill>
              <a:srgbClr val="2DD4BF"/>
            </a:solidFill>
          </a:ln>
        </p:spPr>
        <p:txBody>
          <a:bodyPr/>
          <a:lstStyle/>
          <a:p>
            <a:endParaRPr lang="en-US"/>
          </a:p>
        </p:txBody>
      </p:sp>
      <p:sp>
        <p:nvSpPr>
          <p:cNvPr id="18" name="tableheader"/>
          <p:cNvSpPr/>
          <p:nvPr/>
        </p:nvSpPr>
        <p:spPr>
          <a:xfrm>
            <a:off x="685800" y="3017520"/>
            <a:ext cx="5120280" cy="274320"/>
          </a:xfrm>
          <a:prstGeom prst="rect">
            <a:avLst/>
          </a:prstGeom>
          <a:noFill/>
          <a:ln/>
        </p:spPr>
        <p:txBody>
          <a:bodyPr wrap="square" lIns="0" tIns="0" rIns="0" bIns="0" rtlCol="0" anchor="ctr"/>
          <a:lstStyle/>
          <a:p>
            <a:pPr marL="0" indent="0">
              <a:buNone/>
            </a:pPr>
            <a:r>
              <a:rPr lang="en-US" sz="1100" b="1" kern="0" spc="300" dirty="0">
                <a:solidFill>
                  <a:srgbClr val="2DD4BF"/>
                </a:solidFill>
                <a:latin typeface="Calibri" pitchFamily="34" charset="0"/>
              </a:rPr>
              <a:t>MODEL COMPARISON  ·  TEST SET (log scale)</a:t>
            </a:r>
          </a:p>
        </p:txBody>
      </p:sp>
      <p:sp>
        <p:nvSpPr>
          <p:cNvPr id="19" name="tablerows"/>
          <p:cNvSpPr/>
          <p:nvPr/>
        </p:nvSpPr>
        <p:spPr>
          <a:xfrm>
            <a:off x="685800" y="3383280"/>
            <a:ext cx="5120280" cy="2559600"/>
          </a:xfrm>
          <a:prstGeom prst="rect">
            <a:avLst/>
          </a:prstGeom>
          <a:noFill/>
          <a:ln/>
        </p:spPr>
        <p:txBody>
          <a:bodyPr wrap="square" lIns="0" tIns="0" rIns="0" bIns="0" rtlCol="0" anchor="t"/>
          <a:lstStyle/>
          <a:p>
            <a:pPr marL="0" indent="0">
              <a:spcAft>
                <a:spcPts val="200"/>
              </a:spcAft>
              <a:buNone/>
            </a:pPr>
            <a:r>
              <a:rPr lang="en-US" sz="1200" b="1" dirty="0">
                <a:solidFill>
                  <a:srgbClr val="E2E8F0"/>
                </a:solidFill>
                <a:latin typeface="Calibri" pitchFamily="34" charset="0"/>
              </a:rPr>
              <a:t>Model                    MAE      RMSE     R²</a:t>
            </a:r>
          </a:p>
          <a:p>
            <a:pPr marL="0" indent="0">
              <a:spcAft>
                <a:spcPts val="100"/>
              </a:spcAft>
              <a:buNone/>
            </a:pPr>
            <a:r>
              <a:rPr lang="en-US" sz="1100" dirty="0">
                <a:solidFill>
                  <a:srgbClr val="64748B"/>
                </a:solidFill>
                <a:latin typeface="Calibri" pitchFamily="34" charset="0"/>
              </a:rPr>
              <a:t>────────────────────────────────────────</a:t>
            </a:r>
          </a:p>
          <a:p>
            <a:pPr marL="0" indent="0">
              <a:spcAft>
                <a:spcPts val="200"/>
              </a:spcAft>
              <a:buNone/>
            </a:pPr>
            <a:r>
              <a:rPr lang="en-US" sz="1200" dirty="0">
                <a:solidFill>
                  <a:srgbClr val="2DD4BF"/>
                </a:solidFill>
                <a:latin typeface="Calibri" pitchFamily="34" charset="0"/>
              </a:rPr>
              <a:t>GBT Tabular             0.321    0.831    0.946</a:t>
            </a:r>
          </a:p>
          <a:p>
            <a:pPr marL="0" indent="0">
              <a:spcAft>
                <a:spcPts val="200"/>
              </a:spcAft>
              <a:buNone/>
            </a:pPr>
            <a:r>
              <a:rPr lang="en-US" sz="1200" dirty="0">
                <a:solidFill>
                  <a:srgbClr val="F59E0B"/>
                </a:solidFill>
                <a:latin typeface="Calibri" pitchFamily="34" charset="0"/>
              </a:rPr>
              <a:t>Late Fusion (img+tab)   1.596    2.562    0.488</a:t>
            </a:r>
          </a:p>
          <a:p>
            <a:pPr marL="0" indent="0">
              <a:spcAft>
                <a:spcPts val="200"/>
              </a:spcAft>
              <a:buNone/>
            </a:pPr>
            <a:r>
              <a:rPr lang="en-US" sz="1200" dirty="0">
                <a:solidFill>
                  <a:srgbClr val="64748B"/>
                </a:solidFill>
                <a:latin typeface="Calibri" pitchFamily="34" charset="0"/>
              </a:rPr>
              <a:t>CNN Image Only          2.095    3.204    0.199</a:t>
            </a:r>
          </a:p>
        </p:txBody>
      </p:sp>
      <p:sp>
        <p:nvSpPr>
          <p:cNvPr id="20" name="interpbg"/>
          <p:cNvSpPr/>
          <p:nvPr/>
        </p:nvSpPr>
        <p:spPr>
          <a:xfrm>
            <a:off x="6218640" y="2925360"/>
            <a:ext cx="5486880" cy="3200400"/>
          </a:xfrm>
          <a:prstGeom prst="rect">
            <a:avLst/>
          </a:prstGeom>
          <a:solidFill>
            <a:srgbClr val="13243A"/>
          </a:solidFill>
          <a:ln w="12700">
            <a:solidFill>
              <a:srgbClr val="13243A"/>
            </a:solidFill>
          </a:ln>
        </p:spPr>
        <p:txBody>
          <a:bodyPr/>
          <a:lstStyle/>
          <a:p>
            <a:endParaRPr lang="en-US"/>
          </a:p>
        </p:txBody>
      </p:sp>
      <p:sp>
        <p:nvSpPr>
          <p:cNvPr id="21" name="interpaccent"/>
          <p:cNvSpPr/>
          <p:nvPr/>
        </p:nvSpPr>
        <p:spPr>
          <a:xfrm>
            <a:off x="6218640" y="2925360"/>
            <a:ext cx="73152" cy="3200400"/>
          </a:xfrm>
          <a:prstGeom prst="rect">
            <a:avLst/>
          </a:prstGeom>
          <a:solidFill>
            <a:srgbClr val="F59E0B"/>
          </a:solidFill>
          <a:ln w="12700">
            <a:solidFill>
              <a:srgbClr val="F59E0B"/>
            </a:solidFill>
          </a:ln>
        </p:spPr>
        <p:txBody>
          <a:bodyPr/>
          <a:lstStyle/>
          <a:p>
            <a:endParaRPr lang="en-US"/>
          </a:p>
        </p:txBody>
      </p:sp>
      <p:sp>
        <p:nvSpPr>
          <p:cNvPr id="22" name="interplabel"/>
          <p:cNvSpPr/>
          <p:nvPr/>
        </p:nvSpPr>
        <p:spPr>
          <a:xfrm>
            <a:off x="6447240" y="3017520"/>
            <a:ext cx="512028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rPr>
              <a:t>INTERPRETATION</a:t>
            </a:r>
          </a:p>
        </p:txBody>
      </p:sp>
      <p:sp>
        <p:nvSpPr>
          <p:cNvPr id="23" name="interptext"/>
          <p:cNvSpPr/>
          <p:nvPr/>
        </p:nvSpPr>
        <p:spPr>
          <a:xfrm>
            <a:off x="6447240" y="3383280"/>
            <a:ext cx="5120280" cy="2559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2E8F0"/>
                </a:solidFill>
                <a:latin typeface="Calibri" pitchFamily="34" charset="0"/>
              </a:rPr>
              <a:t>GBT on eGRID covariates is the dominant signal (R² = 0.946). Capacity, heat rate, and fuel type explain most of the variance in annual CO₂ intensity.</a:t>
            </a:r>
          </a:p>
          <a:p>
            <a:pPr marL="0" indent="0">
              <a:spcAft>
                <a:spcPts val="300"/>
              </a:spcAft>
              <a:buNone/>
            </a:pPr>
            <a:r>
              <a:rPr lang="en-US" sz="400" dirty="0">
                <a:solidFill>
                  <a:srgbClr val="000000"/>
                </a:solidFill>
                <a:latin typeface="Calibri"/>
              </a:rPr>
              <a:t> </a:t>
            </a:r>
          </a:p>
          <a:p>
            <a:pPr marL="342900" indent="-342900">
              <a:spcAft>
                <a:spcPts val="400"/>
              </a:spcAft>
              <a:buSzPct val="100000"/>
              <a:buChar char="▸"/>
            </a:pPr>
            <a:r>
              <a:rPr lang="en-US" sz="1200" dirty="0">
                <a:solidFill>
                  <a:srgbClr val="E2E8F0"/>
                </a:solidFill>
                <a:latin typeface="Calibri" pitchFamily="34" charset="0"/>
              </a:rPr>
              <a:t>Late fusion (R² = 0.488) outperforms the image-only CNN (R² = 0.199), confirming that satellite patches add signal beyond tabular data — but cannot replace it.</a:t>
            </a:r>
          </a:p>
          <a:p>
            <a:pPr marL="0" indent="0">
              <a:spcAft>
                <a:spcPts val="300"/>
              </a:spcAft>
              <a:buNone/>
            </a:pPr>
            <a:r>
              <a:rPr lang="en-US" sz="400" dirty="0">
                <a:solidFill>
                  <a:srgbClr val="000000"/>
                </a:solidFill>
                <a:latin typeface="Calibri"/>
              </a:rPr>
              <a:t> </a:t>
            </a:r>
          </a:p>
          <a:p>
            <a:pPr marL="342900" indent="-342900">
              <a:spcAft>
                <a:spcPts val="400"/>
              </a:spcAft>
              <a:buSzPct val="100000"/>
              <a:buChar char="▸"/>
            </a:pPr>
            <a:r>
              <a:rPr lang="en-US" sz="1200" dirty="0">
                <a:solidFill>
                  <a:srgbClr val="E2E8F0"/>
                </a:solidFill>
                <a:latin typeface="Calibri" pitchFamily="34" charset="0"/>
              </a:rPr>
              <a:t>Next step: add Landsat thermal TIRS bands to the CNN branch to close the gap, as thermal signatures directly encode heat output from fossil-fuel combustion.</a:t>
            </a:r>
          </a:p>
        </p:txBody>
      </p:sp>
      <p:sp>
        <p:nvSpPr>
          <p:cNvPr id="24" name="footer"/>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rPr>
              <a:t>Emissions from Above  ·  Scott · Sen · Ronquillo · Rodriguez</a:t>
            </a:r>
          </a:p>
        </p:txBody>
      </p:sp>
      <p:sp>
        <p:nvSpPr>
          <p:cNvPr id="25" name="pagenum"/>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rPr>
              <a:t>10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0B1929"/>
        </a:solidFill>
        <a:effectLst/>
      </p:bgPr>
    </p:bg>
    <p:spTree>
      <p:nvGrpSpPr>
        <p:cNvPr id="1" name=""/>
        <p:cNvGrpSpPr/>
        <p:nvPr/>
      </p:nvGrpSpPr>
      <p:grpSpPr>
        <a:xfrm>
          <a:off x="0" y="0"/>
          <a:ext cx="0" cy="0"/>
          <a:chOff x="0" y="0"/>
          <a:chExt cx="0" cy="0"/>
        </a:xfrm>
      </p:grpSpPr>
      <p:sp>
        <p:nvSpPr>
          <p:cNvPr id="2" name="label"/>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rPr>
              <a:t>07  ·  TASK 4 RESULTS</a:t>
            </a:r>
          </a:p>
        </p:txBody>
      </p:sp>
      <p:sp>
        <p:nvSpPr>
          <p:cNvPr id="3" name="title"/>
          <p:cNvSpPr/>
          <p:nvPr/>
        </p:nvSpPr>
        <p:spPr>
          <a:xfrm>
            <a:off x="457200" y="548640"/>
            <a:ext cx="11247120" cy="5486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rPr>
              <a:t>71 plants flagged; model predicts higher than reported</a:t>
            </a:r>
          </a:p>
        </p:txBody>
      </p:sp>
      <p:sp>
        <p:nvSpPr>
          <p:cNvPr id="4" name="box1bg"/>
          <p:cNvSpPr/>
          <p:nvPr/>
        </p:nvSpPr>
        <p:spPr>
          <a:xfrm>
            <a:off x="457200" y="1280160"/>
            <a:ext cx="2743200" cy="1188720"/>
          </a:xfrm>
          <a:prstGeom prst="rect">
            <a:avLst/>
          </a:prstGeom>
          <a:solidFill>
            <a:srgbClr val="13243A"/>
          </a:solidFill>
          <a:ln w="12700">
            <a:solidFill>
              <a:srgbClr val="13243A"/>
            </a:solidFill>
          </a:ln>
        </p:spPr>
        <p:txBody>
          <a:bodyPr/>
          <a:lstStyle/>
          <a:p>
            <a:endParaRPr lang="en-US"/>
          </a:p>
        </p:txBody>
      </p:sp>
      <p:sp>
        <p:nvSpPr>
          <p:cNvPr id="5" name="box1side"/>
          <p:cNvSpPr/>
          <p:nvPr/>
        </p:nvSpPr>
        <p:spPr>
          <a:xfrm>
            <a:off x="457200" y="1280160"/>
            <a:ext cx="73152" cy="1188720"/>
          </a:xfrm>
          <a:prstGeom prst="rect">
            <a:avLst/>
          </a:prstGeom>
          <a:solidFill>
            <a:srgbClr val="2DD4BF"/>
          </a:solidFill>
          <a:ln w="12700">
            <a:solidFill>
              <a:srgbClr val="2DD4BF"/>
            </a:solidFill>
          </a:ln>
        </p:spPr>
        <p:txBody>
          <a:bodyPr/>
          <a:lstStyle/>
          <a:p>
            <a:endParaRPr lang="en-US"/>
          </a:p>
        </p:txBody>
      </p:sp>
      <p:sp>
        <p:nvSpPr>
          <p:cNvPr id="6" name="stat1val"/>
          <p:cNvSpPr/>
          <p:nvPr/>
        </p:nvSpPr>
        <p:spPr>
          <a:xfrm>
            <a:off x="685800" y="1325160"/>
            <a:ext cx="2468880" cy="640080"/>
          </a:xfrm>
          <a:prstGeom prst="rect">
            <a:avLst/>
          </a:prstGeom>
          <a:noFill/>
          <a:ln/>
        </p:spPr>
        <p:txBody>
          <a:bodyPr wrap="square" lIns="0" tIns="0" rIns="0" bIns="0" rtlCol="0" anchor="ctr"/>
          <a:lstStyle/>
          <a:p>
            <a:pPr marL="0" indent="0">
              <a:buNone/>
            </a:pPr>
            <a:r>
              <a:rPr lang="en-US" sz="4000" b="1" dirty="0">
                <a:solidFill>
                  <a:srgbClr val="2DD4BF"/>
                </a:solidFill>
                <a:latin typeface="Georgia" pitchFamily="34" charset="0"/>
              </a:rPr>
              <a:t>71</a:t>
            </a:r>
          </a:p>
        </p:txBody>
      </p:sp>
      <p:sp>
        <p:nvSpPr>
          <p:cNvPr id="7" name="stat1lbl"/>
          <p:cNvSpPr/>
          <p:nvPr/>
        </p:nvSpPr>
        <p:spPr>
          <a:xfrm>
            <a:off x="685800" y="1965240"/>
            <a:ext cx="246888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rPr>
              <a:t>Flagged by residual Z &gt; 2.5</a:t>
            </a:r>
          </a:p>
        </p:txBody>
      </p:sp>
      <p:sp>
        <p:nvSpPr>
          <p:cNvPr id="8" name="box2bg"/>
          <p:cNvSpPr/>
          <p:nvPr/>
        </p:nvSpPr>
        <p:spPr>
          <a:xfrm>
            <a:off x="3383280" y="1280160"/>
            <a:ext cx="2743200" cy="1188720"/>
          </a:xfrm>
          <a:prstGeom prst="rect">
            <a:avLst/>
          </a:prstGeom>
          <a:solidFill>
            <a:srgbClr val="13243A"/>
          </a:solidFill>
          <a:ln w="12700">
            <a:solidFill>
              <a:srgbClr val="13243A"/>
            </a:solidFill>
          </a:ln>
        </p:spPr>
        <p:txBody>
          <a:bodyPr/>
          <a:lstStyle/>
          <a:p>
            <a:endParaRPr lang="en-US"/>
          </a:p>
        </p:txBody>
      </p:sp>
      <p:sp>
        <p:nvSpPr>
          <p:cNvPr id="9" name="box2side"/>
          <p:cNvSpPr/>
          <p:nvPr/>
        </p:nvSpPr>
        <p:spPr>
          <a:xfrm>
            <a:off x="3383280" y="1280160"/>
            <a:ext cx="73152" cy="1188720"/>
          </a:xfrm>
          <a:prstGeom prst="rect">
            <a:avLst/>
          </a:prstGeom>
          <a:solidFill>
            <a:srgbClr val="F59E0B"/>
          </a:solidFill>
          <a:ln w="12700">
            <a:solidFill>
              <a:srgbClr val="F59E0B"/>
            </a:solidFill>
          </a:ln>
        </p:spPr>
        <p:txBody>
          <a:bodyPr/>
          <a:lstStyle/>
          <a:p>
            <a:endParaRPr lang="en-US"/>
          </a:p>
        </p:txBody>
      </p:sp>
      <p:sp>
        <p:nvSpPr>
          <p:cNvPr id="10" name="stat2val"/>
          <p:cNvSpPr/>
          <p:nvPr/>
        </p:nvSpPr>
        <p:spPr>
          <a:xfrm>
            <a:off x="3611880" y="1325160"/>
            <a:ext cx="2468880" cy="640080"/>
          </a:xfrm>
          <a:prstGeom prst="rect">
            <a:avLst/>
          </a:prstGeom>
          <a:noFill/>
          <a:ln/>
        </p:spPr>
        <p:txBody>
          <a:bodyPr wrap="square" lIns="0" tIns="0" rIns="0" bIns="0" rtlCol="0" anchor="ctr"/>
          <a:lstStyle/>
          <a:p>
            <a:pPr marL="0" indent="0">
              <a:buNone/>
            </a:pPr>
            <a:r>
              <a:rPr lang="en-US" sz="4000" b="1" dirty="0">
                <a:solidFill>
                  <a:srgbClr val="F59E0B"/>
                </a:solidFill>
                <a:latin typeface="Georgia" pitchFamily="34" charset="0"/>
              </a:rPr>
              <a:t>320</a:t>
            </a:r>
          </a:p>
        </p:txBody>
      </p:sp>
      <p:sp>
        <p:nvSpPr>
          <p:cNvPr id="11" name="stat2lbl"/>
          <p:cNvSpPr/>
          <p:nvPr/>
        </p:nvSpPr>
        <p:spPr>
          <a:xfrm>
            <a:off x="3611880" y="1965240"/>
            <a:ext cx="246888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rPr>
              <a:t>Suspicious fossil plants (with imagery)</a:t>
            </a:r>
          </a:p>
        </p:txBody>
      </p:sp>
      <p:sp>
        <p:nvSpPr>
          <p:cNvPr id="12" name="box3bg"/>
          <p:cNvSpPr/>
          <p:nvPr/>
        </p:nvSpPr>
        <p:spPr>
          <a:xfrm>
            <a:off x="6309360" y="1280160"/>
            <a:ext cx="2743200" cy="1188720"/>
          </a:xfrm>
          <a:prstGeom prst="rect">
            <a:avLst/>
          </a:prstGeom>
          <a:solidFill>
            <a:srgbClr val="13243A"/>
          </a:solidFill>
          <a:ln w="12700">
            <a:solidFill>
              <a:srgbClr val="13243A"/>
            </a:solidFill>
          </a:ln>
        </p:spPr>
        <p:txBody>
          <a:bodyPr/>
          <a:lstStyle/>
          <a:p>
            <a:endParaRPr lang="en-US"/>
          </a:p>
        </p:txBody>
      </p:sp>
      <p:sp>
        <p:nvSpPr>
          <p:cNvPr id="13" name="box3side"/>
          <p:cNvSpPr/>
          <p:nvPr/>
        </p:nvSpPr>
        <p:spPr>
          <a:xfrm>
            <a:off x="6309360" y="1280160"/>
            <a:ext cx="73152" cy="1188720"/>
          </a:xfrm>
          <a:prstGeom prst="rect">
            <a:avLst/>
          </a:prstGeom>
          <a:solidFill>
            <a:srgbClr val="2DD4BF"/>
          </a:solidFill>
          <a:ln w="12700">
            <a:solidFill>
              <a:srgbClr val="2DD4BF"/>
            </a:solidFill>
          </a:ln>
        </p:spPr>
        <p:txBody>
          <a:bodyPr/>
          <a:lstStyle/>
          <a:p>
            <a:endParaRPr lang="en-US"/>
          </a:p>
        </p:txBody>
      </p:sp>
      <p:sp>
        <p:nvSpPr>
          <p:cNvPr id="14" name="stat3val"/>
          <p:cNvSpPr/>
          <p:nvPr/>
        </p:nvSpPr>
        <p:spPr>
          <a:xfrm>
            <a:off x="6537960" y="1325160"/>
            <a:ext cx="2468880" cy="640080"/>
          </a:xfrm>
          <a:prstGeom prst="rect">
            <a:avLst/>
          </a:prstGeom>
          <a:noFill/>
          <a:ln/>
        </p:spPr>
        <p:txBody>
          <a:bodyPr wrap="square" lIns="0" tIns="0" rIns="0" bIns="0" rtlCol="0" anchor="ctr"/>
          <a:lstStyle/>
          <a:p>
            <a:pPr marL="0" indent="0">
              <a:buNone/>
            </a:pPr>
            <a:r>
              <a:rPr lang="en-US" sz="4000" b="1" dirty="0">
                <a:solidFill>
                  <a:srgbClr val="2DD4BF"/>
                </a:solidFill>
                <a:latin typeface="Georgia" pitchFamily="34" charset="0"/>
              </a:rPr>
              <a:t>98</a:t>
            </a:r>
          </a:p>
        </p:txBody>
      </p:sp>
      <p:sp>
        <p:nvSpPr>
          <p:cNvPr id="15" name="stat3lbl"/>
          <p:cNvSpPr/>
          <p:nvPr/>
        </p:nvSpPr>
        <p:spPr>
          <a:xfrm>
            <a:off x="6537960" y="1965240"/>
            <a:ext cx="246888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rPr>
              <a:t>Flagged by Isolation Forest</a:t>
            </a:r>
          </a:p>
        </p:txBody>
      </p:sp>
      <p:sp>
        <p:nvSpPr>
          <p:cNvPr id="16" name="box4bg"/>
          <p:cNvSpPr/>
          <p:nvPr/>
        </p:nvSpPr>
        <p:spPr>
          <a:xfrm>
            <a:off x="9235440" y="1280160"/>
            <a:ext cx="2468880" cy="1188720"/>
          </a:xfrm>
          <a:prstGeom prst="rect">
            <a:avLst/>
          </a:prstGeom>
          <a:solidFill>
            <a:srgbClr val="13243A"/>
          </a:solidFill>
          <a:ln w="12700">
            <a:solidFill>
              <a:srgbClr val="13243A"/>
            </a:solidFill>
          </a:ln>
        </p:spPr>
        <p:txBody>
          <a:bodyPr/>
          <a:lstStyle/>
          <a:p>
            <a:endParaRPr lang="en-US"/>
          </a:p>
        </p:txBody>
      </p:sp>
      <p:sp>
        <p:nvSpPr>
          <p:cNvPr id="17" name="box4side"/>
          <p:cNvSpPr/>
          <p:nvPr/>
        </p:nvSpPr>
        <p:spPr>
          <a:xfrm>
            <a:off x="9235440" y="1280160"/>
            <a:ext cx="73152" cy="1188720"/>
          </a:xfrm>
          <a:prstGeom prst="rect">
            <a:avLst/>
          </a:prstGeom>
          <a:solidFill>
            <a:srgbClr val="F59E0B"/>
          </a:solidFill>
          <a:ln w="12700">
            <a:solidFill>
              <a:srgbClr val="F59E0B"/>
            </a:solidFill>
          </a:ln>
        </p:spPr>
        <p:txBody>
          <a:bodyPr/>
          <a:lstStyle/>
          <a:p>
            <a:endParaRPr lang="en-US"/>
          </a:p>
        </p:txBody>
      </p:sp>
      <p:sp>
        <p:nvSpPr>
          <p:cNvPr id="18" name="stat4val"/>
          <p:cNvSpPr/>
          <p:nvPr/>
        </p:nvSpPr>
        <p:spPr>
          <a:xfrm>
            <a:off x="9464040" y="1325160"/>
            <a:ext cx="2194560" cy="640080"/>
          </a:xfrm>
          <a:prstGeom prst="rect">
            <a:avLst/>
          </a:prstGeom>
          <a:noFill/>
          <a:ln/>
        </p:spPr>
        <p:txBody>
          <a:bodyPr wrap="square" lIns="0" tIns="0" rIns="0" bIns="0" rtlCol="0" anchor="ctr"/>
          <a:lstStyle/>
          <a:p>
            <a:pPr marL="0" indent="0">
              <a:buNone/>
            </a:pPr>
            <a:r>
              <a:rPr lang="en-US" sz="4000" b="1" dirty="0">
                <a:solidFill>
                  <a:srgbClr val="F59E0B"/>
                </a:solidFill>
                <a:latin typeface="Georgia" pitchFamily="34" charset="0"/>
              </a:rPr>
              <a:t>4,435</a:t>
            </a:r>
          </a:p>
        </p:txBody>
      </p:sp>
      <p:sp>
        <p:nvSpPr>
          <p:cNvPr id="19" name="stat4lbl"/>
          <p:cNvSpPr/>
          <p:nvPr/>
        </p:nvSpPr>
        <p:spPr>
          <a:xfrm>
            <a:off x="9464040" y="1965240"/>
            <a:ext cx="219456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rPr>
              <a:t>Total plants analysed</a:t>
            </a:r>
          </a:p>
        </p:txBody>
      </p:sp>
      <p:pic>
        <p:nvPicPr>
          <p:cNvPr id="20" name="scatter_chart"/>
          <p:cNvPicPr>
            <a:picLocks noChangeAspect="1"/>
          </p:cNvPicPr>
          <p:nvPr/>
        </p:nvPicPr>
        <p:blipFill>
          <a:blip r:embed="rId2"/>
          <a:stretch>
            <a:fillRect/>
          </a:stretch>
        </p:blipFill>
        <p:spPr>
          <a:xfrm>
            <a:off x="457200" y="2650000"/>
            <a:ext cx="4300000" cy="3313433"/>
          </a:xfrm>
          <a:prstGeom prst="rect">
            <a:avLst/>
          </a:prstGeom>
        </p:spPr>
      </p:pic>
      <p:sp>
        <p:nvSpPr>
          <p:cNvPr id="21" name="interpbg"/>
          <p:cNvSpPr/>
          <p:nvPr/>
        </p:nvSpPr>
        <p:spPr>
          <a:xfrm>
            <a:off x="4940640" y="2650000"/>
            <a:ext cx="6763680" cy="3313433"/>
          </a:xfrm>
          <a:prstGeom prst="rect">
            <a:avLst/>
          </a:prstGeom>
          <a:solidFill>
            <a:srgbClr val="13243A"/>
          </a:solidFill>
          <a:ln w="12700">
            <a:solidFill>
              <a:srgbClr val="13243A"/>
            </a:solidFill>
          </a:ln>
        </p:spPr>
        <p:txBody>
          <a:bodyPr/>
          <a:lstStyle/>
          <a:p>
            <a:endParaRPr lang="en-US"/>
          </a:p>
        </p:txBody>
      </p:sp>
      <p:sp>
        <p:nvSpPr>
          <p:cNvPr id="22" name="interpside"/>
          <p:cNvSpPr/>
          <p:nvPr/>
        </p:nvSpPr>
        <p:spPr>
          <a:xfrm>
            <a:off x="4940640" y="2650000"/>
            <a:ext cx="73152" cy="3313433"/>
          </a:xfrm>
          <a:prstGeom prst="rect">
            <a:avLst/>
          </a:prstGeom>
          <a:solidFill>
            <a:srgbClr val="F59E0B"/>
          </a:solidFill>
          <a:ln w="12700">
            <a:solidFill>
              <a:srgbClr val="F59E0B"/>
            </a:solidFill>
          </a:ln>
        </p:spPr>
        <p:txBody>
          <a:bodyPr/>
          <a:lstStyle/>
          <a:p>
            <a:endParaRPr lang="en-US"/>
          </a:p>
        </p:txBody>
      </p:sp>
      <p:sp>
        <p:nvSpPr>
          <p:cNvPr id="23" name="interplbl"/>
          <p:cNvSpPr/>
          <p:nvPr/>
        </p:nvSpPr>
        <p:spPr>
          <a:xfrm>
            <a:off x="5169240" y="2741440"/>
            <a:ext cx="639720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rPr>
              <a:t>INTERPRETATION</a:t>
            </a:r>
          </a:p>
        </p:txBody>
      </p:sp>
      <p:sp>
        <p:nvSpPr>
          <p:cNvPr id="24" name="interptext"/>
          <p:cNvSpPr/>
          <p:nvPr/>
        </p:nvSpPr>
        <p:spPr>
          <a:xfrm>
            <a:off x="5169240" y="3107760"/>
            <a:ext cx="6397200" cy="27422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2E8F0"/>
                </a:solidFill>
                <a:latin typeface="Calibri" pitchFamily="34" charset="0"/>
              </a:rPr>
              <a:t>Points above the dashed line (predicted &gt; reported) are the primary anomaly candidates. Red stars mark the top 30 by ensemble score.</a:t>
            </a:r>
          </a:p>
          <a:p>
            <a:pPr marL="0" indent="0">
              <a:spcAft>
                <a:spcPts val="300"/>
              </a:spcAft>
              <a:buNone/>
            </a:pPr>
            <a:r>
              <a:rPr lang="en-US" sz="400" dirty="0">
                <a:solidFill>
                  <a:srgbClr val="000000"/>
                </a:solidFill>
                <a:latin typeface="Calibri"/>
              </a:rPr>
              <a:t> </a:t>
            </a:r>
          </a:p>
          <a:p>
            <a:pPr marL="342900" indent="-342900">
              <a:spcAft>
                <a:spcPts val="400"/>
              </a:spcAft>
              <a:buSzPct val="100000"/>
              <a:buChar char="▸"/>
            </a:pPr>
            <a:r>
              <a:rPr lang="en-US" sz="1200" dirty="0">
                <a:solidFill>
                  <a:srgbClr val="E2E8F0"/>
                </a:solidFill>
                <a:latin typeface="Calibri" pitchFamily="34" charset="0"/>
              </a:rPr>
              <a:t>NUCLEAR and COAL show the highest median ensemble scores, consistent with their greater thermal-plant configuration variability and historical reporting inconsistencies.</a:t>
            </a:r>
          </a:p>
          <a:p>
            <a:pPr marL="0" indent="0">
              <a:spcAft>
                <a:spcPts val="300"/>
              </a:spcAft>
              <a:buNone/>
            </a:pPr>
            <a:r>
              <a:rPr lang="en-US" sz="400" dirty="0">
                <a:solidFill>
                  <a:srgbClr val="000000"/>
                </a:solidFill>
                <a:latin typeface="Calibri"/>
              </a:rPr>
              <a:t> </a:t>
            </a:r>
          </a:p>
          <a:p>
            <a:pPr marL="342900" indent="-342900">
              <a:spcAft>
                <a:spcPts val="400"/>
              </a:spcAft>
              <a:buSzPct val="100000"/>
              <a:buChar char="▸"/>
            </a:pPr>
            <a:r>
              <a:rPr lang="en-US" sz="1200" dirty="0">
                <a:solidFill>
                  <a:srgbClr val="E2E8F0"/>
                </a:solidFill>
                <a:latin typeface="Calibri" pitchFamily="34" charset="0"/>
              </a:rPr>
              <a:t>CA (5) and MN (4) lead the geographic distribution of top-30 anomalies, warranting priority regulatory review in those states.</a:t>
            </a:r>
          </a:p>
        </p:txBody>
      </p:sp>
      <p:sp>
        <p:nvSpPr>
          <p:cNvPr id="25" name="footer"/>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rPr>
              <a:t>Emissions from Above  ·  Scott · Sen · Ronquillo · Rodriguez</a:t>
            </a:r>
          </a:p>
        </p:txBody>
      </p:sp>
      <p:sp>
        <p:nvSpPr>
          <p:cNvPr id="26" name="pagenum"/>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rPr>
              <a:t>11 /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0B1929"/>
        </a:solidFill>
        <a:effectLst/>
      </p:bgPr>
    </p:bg>
    <p:spTree>
      <p:nvGrpSpPr>
        <p:cNvPr id="1" name=""/>
        <p:cNvGrpSpPr/>
        <p:nvPr/>
      </p:nvGrpSpPr>
      <p:grpSpPr>
        <a:xfrm>
          <a:off x="0" y="0"/>
          <a:ext cx="0" cy="0"/>
          <a:chOff x="0" y="0"/>
          <a:chExt cx="0" cy="0"/>
        </a:xfrm>
      </p:grpSpPr>
      <p:sp>
        <p:nvSpPr>
          <p:cNvPr id="2" name="label"/>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rPr>
              <a:t>08  ·  TASK 4 RESULTS  —  ANOMALY SCORES BY FUEL TYPE &amp; GEOGRAPHY</a:t>
            </a:r>
          </a:p>
        </p:txBody>
      </p:sp>
      <p:sp>
        <p:nvSpPr>
          <p:cNvPr id="3" name="title"/>
          <p:cNvSpPr/>
          <p:nvPr/>
        </p:nvSpPr>
        <p:spPr>
          <a:xfrm>
            <a:off x="457200" y="548640"/>
            <a:ext cx="11247120" cy="5486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rPr>
              <a:t>NUCLEAR and COAL carry the highest anomaly scores</a:t>
            </a:r>
          </a:p>
        </p:txBody>
      </p:sp>
      <p:pic>
        <p:nvPicPr>
          <p:cNvPr id="4" name="fuel_chart"/>
          <p:cNvPicPr>
            <a:picLocks noChangeAspect="1"/>
          </p:cNvPicPr>
          <p:nvPr/>
        </p:nvPicPr>
        <p:blipFill>
          <a:blip r:embed="rId2"/>
          <a:stretch>
            <a:fillRect/>
          </a:stretch>
        </p:blipFill>
        <p:spPr>
          <a:xfrm>
            <a:off x="457200" y="1371600"/>
            <a:ext cx="8494036" cy="2950000"/>
          </a:xfrm>
          <a:prstGeom prst="rect">
            <a:avLst/>
          </a:prstGeom>
        </p:spPr>
      </p:pic>
      <p:sp>
        <p:nvSpPr>
          <p:cNvPr id="5" name="findingsbg"/>
          <p:cNvSpPr/>
          <p:nvPr/>
        </p:nvSpPr>
        <p:spPr>
          <a:xfrm>
            <a:off x="9124560" y="1371600"/>
            <a:ext cx="2580480" cy="2950000"/>
          </a:xfrm>
          <a:prstGeom prst="rect">
            <a:avLst/>
          </a:prstGeom>
          <a:solidFill>
            <a:srgbClr val="13243A"/>
          </a:solidFill>
          <a:ln w="12700">
            <a:solidFill>
              <a:srgbClr val="13243A"/>
            </a:solidFill>
          </a:ln>
        </p:spPr>
        <p:txBody>
          <a:bodyPr/>
          <a:lstStyle/>
          <a:p>
            <a:endParaRPr lang="en-US"/>
          </a:p>
        </p:txBody>
      </p:sp>
      <p:sp>
        <p:nvSpPr>
          <p:cNvPr id="6" name="findingsside"/>
          <p:cNvSpPr/>
          <p:nvPr/>
        </p:nvSpPr>
        <p:spPr>
          <a:xfrm>
            <a:off x="9124560" y="1371600"/>
            <a:ext cx="73152" cy="2950000"/>
          </a:xfrm>
          <a:prstGeom prst="rect">
            <a:avLst/>
          </a:prstGeom>
          <a:solidFill>
            <a:srgbClr val="2DD4BF"/>
          </a:solidFill>
          <a:ln w="12700">
            <a:solidFill>
              <a:srgbClr val="2DD4BF"/>
            </a:solidFill>
          </a:ln>
        </p:spPr>
        <p:txBody>
          <a:bodyPr/>
          <a:lstStyle/>
          <a:p>
            <a:endParaRPr lang="en-US"/>
          </a:p>
        </p:txBody>
      </p:sp>
      <p:sp>
        <p:nvSpPr>
          <p:cNvPr id="7" name="findingslbl"/>
          <p:cNvSpPr/>
          <p:nvPr/>
        </p:nvSpPr>
        <p:spPr>
          <a:xfrm>
            <a:off x="9353160" y="1462560"/>
            <a:ext cx="2251800" cy="274320"/>
          </a:xfrm>
          <a:prstGeom prst="rect">
            <a:avLst/>
          </a:prstGeom>
          <a:noFill/>
          <a:ln/>
        </p:spPr>
        <p:txBody>
          <a:bodyPr wrap="square" lIns="0" tIns="0" rIns="0" bIns="0" rtlCol="0" anchor="ctr"/>
          <a:lstStyle/>
          <a:p>
            <a:pPr marL="0" indent="0">
              <a:buNone/>
            </a:pPr>
            <a:r>
              <a:rPr lang="en-US" sz="1100" b="1" kern="0" spc="300" dirty="0">
                <a:solidFill>
                  <a:srgbClr val="2DD4BF"/>
                </a:solidFill>
                <a:latin typeface="Calibri" pitchFamily="34" charset="0"/>
              </a:rPr>
              <a:t>KEY FINDINGS</a:t>
            </a:r>
          </a:p>
        </p:txBody>
      </p:sp>
      <p:sp>
        <p:nvSpPr>
          <p:cNvPr id="8" name="findingstext"/>
          <p:cNvSpPr/>
          <p:nvPr/>
        </p:nvSpPr>
        <p:spPr>
          <a:xfrm>
            <a:off x="9353160" y="1828320"/>
            <a:ext cx="2251800" cy="21945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E2E8F0"/>
                </a:solidFill>
                <a:latin typeface="Calibri" pitchFamily="34" charset="0"/>
              </a:rPr>
              <a:t>NUCLEAR median score ~0.40 is the highest across all fuel classes.</a:t>
            </a:r>
          </a:p>
          <a:p>
            <a:pPr marL="0" indent="0">
              <a:spcAft>
                <a:spcPts val="200"/>
              </a:spcAft>
              <a:buNone/>
            </a:pPr>
            <a:r>
              <a:rPr lang="en-US" sz="400" dirty="0">
                <a:solidFill>
                  <a:srgbClr val="000000"/>
                </a:solidFill>
                <a:latin typeface="Calibri"/>
              </a:rPr>
              <a:t> </a:t>
            </a:r>
          </a:p>
          <a:p>
            <a:pPr marL="342900" indent="-342900">
              <a:spcAft>
                <a:spcPts val="400"/>
              </a:spcAft>
              <a:buSzPct val="100000"/>
              <a:buChar char="▸"/>
            </a:pPr>
            <a:r>
              <a:rPr lang="en-US" sz="1100" dirty="0">
                <a:solidFill>
                  <a:srgbClr val="E2E8F0"/>
                </a:solidFill>
                <a:latin typeface="Calibri" pitchFamily="34" charset="0"/>
              </a:rPr>
              <a:t>CA leads with 5 flagged plants; MN follows with 4.</a:t>
            </a:r>
          </a:p>
          <a:p>
            <a:pPr marL="0" indent="0">
              <a:spcAft>
                <a:spcPts val="200"/>
              </a:spcAft>
              <a:buNone/>
            </a:pPr>
            <a:r>
              <a:rPr lang="en-US" sz="400" dirty="0">
                <a:solidFill>
                  <a:srgbClr val="000000"/>
                </a:solidFill>
                <a:latin typeface="Calibri"/>
              </a:rPr>
              <a:t> </a:t>
            </a:r>
          </a:p>
          <a:p>
            <a:pPr marL="342900" indent="-342900">
              <a:spcAft>
                <a:spcPts val="400"/>
              </a:spcAft>
              <a:buSzPct val="100000"/>
              <a:buChar char="▸"/>
            </a:pPr>
            <a:r>
              <a:rPr lang="en-US" sz="1100" dirty="0">
                <a:solidFill>
                  <a:srgbClr val="E2E8F0"/>
                </a:solidFill>
                <a:latin typeface="Calibri" pitchFamily="34" charset="0"/>
              </a:rPr>
              <a:t>HYDRO scores lowest — consistent with its zero-emissions profile and clean visual signal.</a:t>
            </a:r>
          </a:p>
        </p:txBody>
      </p:sp>
      <p:sp>
        <p:nvSpPr>
          <p:cNvPr id="9" name="weightsbg"/>
          <p:cNvSpPr/>
          <p:nvPr/>
        </p:nvSpPr>
        <p:spPr>
          <a:xfrm>
            <a:off x="457200" y="4503960"/>
            <a:ext cx="11247120" cy="1645680"/>
          </a:xfrm>
          <a:prstGeom prst="rect">
            <a:avLst/>
          </a:prstGeom>
          <a:solidFill>
            <a:srgbClr val="13243A"/>
          </a:solidFill>
          <a:ln w="12700">
            <a:solidFill>
              <a:srgbClr val="13243A"/>
            </a:solidFill>
          </a:ln>
        </p:spPr>
        <p:txBody>
          <a:bodyPr/>
          <a:lstStyle/>
          <a:p>
            <a:endParaRPr lang="en-US"/>
          </a:p>
        </p:txBody>
      </p:sp>
      <p:sp>
        <p:nvSpPr>
          <p:cNvPr id="10" name="weightsside"/>
          <p:cNvSpPr/>
          <p:nvPr/>
        </p:nvSpPr>
        <p:spPr>
          <a:xfrm>
            <a:off x="457200" y="4503960"/>
            <a:ext cx="73152" cy="1645680"/>
          </a:xfrm>
          <a:prstGeom prst="rect">
            <a:avLst/>
          </a:prstGeom>
          <a:solidFill>
            <a:srgbClr val="F59E0B"/>
          </a:solidFill>
          <a:ln w="12700">
            <a:solidFill>
              <a:srgbClr val="F59E0B"/>
            </a:solidFill>
          </a:ln>
        </p:spPr>
        <p:txBody>
          <a:bodyPr/>
          <a:lstStyle/>
          <a:p>
            <a:endParaRPr lang="en-US"/>
          </a:p>
        </p:txBody>
      </p:sp>
      <p:sp>
        <p:nvSpPr>
          <p:cNvPr id="11" name="weightslbl"/>
          <p:cNvSpPr/>
          <p:nvPr/>
        </p:nvSpPr>
        <p:spPr>
          <a:xfrm>
            <a:off x="685800" y="4595400"/>
            <a:ext cx="1101852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rPr>
              <a:t>ENSEMBLE WEIGHTS  ·  Residual Z-score 40%  ·  Isolation Forest 25%  ·  One-Class SVM 20%  ·  MC Dropout Uncertainty 15%</a:t>
            </a:r>
          </a:p>
        </p:txBody>
      </p:sp>
      <p:sp>
        <p:nvSpPr>
          <p:cNvPr id="12" name="weightstext"/>
          <p:cNvSpPr/>
          <p:nvPr/>
        </p:nvSpPr>
        <p:spPr>
          <a:xfrm>
            <a:off x="685800" y="4961160"/>
            <a:ext cx="11018520" cy="914400"/>
          </a:xfrm>
          <a:prstGeom prst="rect">
            <a:avLst/>
          </a:prstGeom>
          <a:noFill/>
          <a:ln/>
        </p:spPr>
        <p:txBody>
          <a:bodyPr wrap="square" lIns="0" tIns="0" rIns="0" bIns="0" rtlCol="0" anchor="t"/>
          <a:lstStyle/>
          <a:p>
            <a:pPr marL="0" indent="0">
              <a:buNone/>
            </a:pPr>
            <a:r>
              <a:rPr lang="en-US" sz="1200" dirty="0">
                <a:solidFill>
                  <a:srgbClr val="E2E8F0"/>
                </a:solidFill>
                <a:latin typeface="Calibri" pitchFamily="34" charset="0"/>
              </a:rPr>
              <a:t>Convergent evidence from all four signals is required before a facility appears on the watchlist — no single detector can flag a plant alone. The full ranked watchlist (4,435 plants) is available in </a:t>
            </a:r>
            <a:r>
              <a:rPr lang="en-US" sz="1200" b="1" dirty="0">
                <a:solidFill>
                  <a:srgbClr val="2DD4BF"/>
                </a:solidFill>
                <a:latin typeface="Calibri" pitchFamily="34" charset="0"/>
              </a:rPr>
              <a:t>anomaly_watchlist.csv</a:t>
            </a:r>
            <a:r>
              <a:rPr lang="en-US" sz="1200" dirty="0">
                <a:solidFill>
                  <a:srgbClr val="E2E8F0"/>
                </a:solidFill>
                <a:latin typeface="Calibri" pitchFamily="34" charset="0"/>
              </a:rPr>
              <a:t> for regulatory partner review.</a:t>
            </a:r>
          </a:p>
        </p:txBody>
      </p:sp>
      <p:sp>
        <p:nvSpPr>
          <p:cNvPr id="13" name="footer"/>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rPr>
              <a:t>Emissions from Above  ·  Scott · Sen · Ronquillo · Rodriguez</a:t>
            </a:r>
          </a:p>
        </p:txBody>
      </p:sp>
      <p:sp>
        <p:nvSpPr>
          <p:cNvPr id="14" name="pagenum"/>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rPr>
              <a:t>12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ea typeface="Calibri" pitchFamily="34" charset="-122"/>
                <a:cs typeface="Calibri" pitchFamily="34" charset="-120"/>
              </a:rPr>
              <a:t>09  ·  LIMITATIONS</a:t>
            </a:r>
            <a:endParaRPr lang="en-US" sz="1000" dirty="0"/>
          </a:p>
        </p:txBody>
      </p:sp>
      <p:sp>
        <p:nvSpPr>
          <p:cNvPr id="3" name="Text 1"/>
          <p:cNvSpPr/>
          <p:nvPr/>
        </p:nvSpPr>
        <p:spPr>
          <a:xfrm>
            <a:off x="457200" y="548640"/>
            <a:ext cx="11247120" cy="7772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ea typeface="Georgia" pitchFamily="34" charset="-122"/>
                <a:cs typeface="Georgia" pitchFamily="34" charset="-120"/>
              </a:rPr>
              <a:t>Where the model struggles and how to fix it</a:t>
            </a:r>
            <a:endParaRPr lang="en-US" sz="2600" dirty="0"/>
          </a:p>
        </p:txBody>
      </p:sp>
      <p:sp>
        <p:nvSpPr>
          <p:cNvPr id="4" name="Shape 2"/>
          <p:cNvSpPr/>
          <p:nvPr/>
        </p:nvSpPr>
        <p:spPr>
          <a:xfrm>
            <a:off x="457200" y="1463040"/>
            <a:ext cx="5669280" cy="4754880"/>
          </a:xfrm>
          <a:prstGeom prst="rect">
            <a:avLst/>
          </a:prstGeom>
          <a:solidFill>
            <a:srgbClr val="13243A"/>
          </a:solidFill>
          <a:ln w="12700">
            <a:solidFill>
              <a:srgbClr val="13243A"/>
            </a:solidFill>
            <a:prstDash val="solid"/>
          </a:ln>
        </p:spPr>
        <p:txBody>
          <a:bodyPr/>
          <a:lstStyle/>
          <a:p>
            <a:endParaRPr lang="en-US"/>
          </a:p>
        </p:txBody>
      </p:sp>
      <p:sp>
        <p:nvSpPr>
          <p:cNvPr id="5" name="Shape 3"/>
          <p:cNvSpPr/>
          <p:nvPr/>
        </p:nvSpPr>
        <p:spPr>
          <a:xfrm>
            <a:off x="457200" y="1463040"/>
            <a:ext cx="73152" cy="4754880"/>
          </a:xfrm>
          <a:prstGeom prst="rect">
            <a:avLst/>
          </a:prstGeom>
          <a:solidFill>
            <a:srgbClr val="F59E0B"/>
          </a:solidFill>
          <a:ln w="12700">
            <a:solidFill>
              <a:srgbClr val="F59E0B"/>
            </a:solidFill>
            <a:prstDash val="solid"/>
          </a:ln>
        </p:spPr>
        <p:txBody>
          <a:bodyPr/>
          <a:lstStyle/>
          <a:p>
            <a:endParaRPr lang="en-US"/>
          </a:p>
        </p:txBody>
      </p:sp>
      <p:sp>
        <p:nvSpPr>
          <p:cNvPr id="6" name="Text 4"/>
          <p:cNvSpPr/>
          <p:nvPr/>
        </p:nvSpPr>
        <p:spPr>
          <a:xfrm>
            <a:off x="685800" y="1600200"/>
            <a:ext cx="530352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CURRENT CONSTRAINTS</a:t>
            </a:r>
            <a:endParaRPr lang="en-US" sz="1100" dirty="0"/>
          </a:p>
        </p:txBody>
      </p:sp>
      <p:sp>
        <p:nvSpPr>
          <p:cNvPr id="7" name="Text 5"/>
          <p:cNvSpPr/>
          <p:nvPr/>
        </p:nvSpPr>
        <p:spPr>
          <a:xfrm>
            <a:off x="777240" y="1920240"/>
            <a:ext cx="5212080" cy="274320"/>
          </a:xfrm>
          <a:prstGeom prst="rect">
            <a:avLst/>
          </a:prstGeom>
          <a:noFill/>
          <a:ln/>
        </p:spPr>
        <p:txBody>
          <a:bodyPr wrap="square" lIns="0" tIns="0" rIns="0" bIns="0" rtlCol="0" anchor="ctr"/>
          <a:lstStyle/>
          <a:p>
            <a:pPr marL="0" indent="0">
              <a:buNone/>
            </a:pPr>
            <a:r>
              <a:rPr lang="en-US" sz="1300" b="1" dirty="0">
                <a:solidFill>
                  <a:srgbClr val="E2E8F0"/>
                </a:solidFill>
                <a:latin typeface="Calibri" pitchFamily="34" charset="0"/>
                <a:ea typeface="Calibri" pitchFamily="34" charset="-122"/>
                <a:cs typeface="Calibri" pitchFamily="34" charset="-120"/>
              </a:rPr>
              <a:t>Resolution ceiling</a:t>
            </a:r>
            <a:endParaRPr lang="en-US" sz="1300" dirty="0"/>
          </a:p>
        </p:txBody>
      </p:sp>
      <p:sp>
        <p:nvSpPr>
          <p:cNvPr id="8" name="Text 6"/>
          <p:cNvSpPr/>
          <p:nvPr/>
        </p:nvSpPr>
        <p:spPr>
          <a:xfrm>
            <a:off x="777240" y="2194560"/>
            <a:ext cx="5212080" cy="68580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15m Landsat patches resized to 64×64 cannot resolve stack geometry or cooling-tower detail that distinguishes fossil-fuel types.</a:t>
            </a:r>
            <a:endParaRPr lang="en-US" sz="1100" dirty="0"/>
          </a:p>
        </p:txBody>
      </p:sp>
      <p:sp>
        <p:nvSpPr>
          <p:cNvPr id="9" name="Text 7"/>
          <p:cNvSpPr/>
          <p:nvPr/>
        </p:nvSpPr>
        <p:spPr>
          <a:xfrm>
            <a:off x="777240" y="2971800"/>
            <a:ext cx="5212080" cy="274320"/>
          </a:xfrm>
          <a:prstGeom prst="rect">
            <a:avLst/>
          </a:prstGeom>
          <a:noFill/>
          <a:ln/>
        </p:spPr>
        <p:txBody>
          <a:bodyPr wrap="square" lIns="0" tIns="0" rIns="0" bIns="0" rtlCol="0" anchor="ctr"/>
          <a:lstStyle/>
          <a:p>
            <a:pPr marL="0" indent="0">
              <a:buNone/>
            </a:pPr>
            <a:r>
              <a:rPr lang="en-US" sz="1300" b="1" dirty="0">
                <a:solidFill>
                  <a:srgbClr val="E2E8F0"/>
                </a:solidFill>
                <a:latin typeface="Calibri" pitchFamily="34" charset="0"/>
                <a:ea typeface="Calibri" pitchFamily="34" charset="-122"/>
                <a:cs typeface="Calibri" pitchFamily="34" charset="-120"/>
              </a:rPr>
              <a:t>Spectral coverage</a:t>
            </a:r>
            <a:endParaRPr lang="en-US" sz="1300" dirty="0"/>
          </a:p>
        </p:txBody>
      </p:sp>
      <p:sp>
        <p:nvSpPr>
          <p:cNvPr id="10" name="Text 8"/>
          <p:cNvSpPr/>
          <p:nvPr/>
        </p:nvSpPr>
        <p:spPr>
          <a:xfrm>
            <a:off x="777240" y="3246120"/>
            <a:ext cx="5212080" cy="68580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RGB-only input ignores thermal infrared (TIRS) bands that directly capture heat signatures from cooling systems and stacks.</a:t>
            </a:r>
            <a:endParaRPr lang="en-US" sz="1100" dirty="0"/>
          </a:p>
        </p:txBody>
      </p:sp>
      <p:sp>
        <p:nvSpPr>
          <p:cNvPr id="11" name="Text 9"/>
          <p:cNvSpPr/>
          <p:nvPr/>
        </p:nvSpPr>
        <p:spPr>
          <a:xfrm>
            <a:off x="777240" y="4023360"/>
            <a:ext cx="5212080" cy="274320"/>
          </a:xfrm>
          <a:prstGeom prst="rect">
            <a:avLst/>
          </a:prstGeom>
          <a:noFill/>
          <a:ln/>
        </p:spPr>
        <p:txBody>
          <a:bodyPr wrap="square" lIns="0" tIns="0" rIns="0" bIns="0" rtlCol="0" anchor="ctr"/>
          <a:lstStyle/>
          <a:p>
            <a:pPr marL="0" indent="0">
              <a:buNone/>
            </a:pPr>
            <a:r>
              <a:rPr lang="en-US" sz="1300" b="1" dirty="0">
                <a:solidFill>
                  <a:srgbClr val="E2E8F0"/>
                </a:solidFill>
                <a:latin typeface="Calibri" pitchFamily="34" charset="0"/>
                <a:ea typeface="Calibri" pitchFamily="34" charset="-122"/>
                <a:cs typeface="Calibri" pitchFamily="34" charset="-120"/>
              </a:rPr>
              <a:t>Temporal snapshot</a:t>
            </a:r>
            <a:endParaRPr lang="en-US" sz="1300" dirty="0"/>
          </a:p>
        </p:txBody>
      </p:sp>
      <p:sp>
        <p:nvSpPr>
          <p:cNvPr id="12" name="Text 10"/>
          <p:cNvSpPr/>
          <p:nvPr/>
        </p:nvSpPr>
        <p:spPr>
          <a:xfrm>
            <a:off x="777240" y="4297680"/>
            <a:ext cx="5212080" cy="68580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Annual eGRID 2014 labels paired with single-image patches and no time alignment with hourly CEMS data or seasonal variation.</a:t>
            </a:r>
            <a:endParaRPr lang="en-US" sz="1100" dirty="0"/>
          </a:p>
        </p:txBody>
      </p:sp>
      <p:sp>
        <p:nvSpPr>
          <p:cNvPr id="13" name="Text 11"/>
          <p:cNvSpPr/>
          <p:nvPr/>
        </p:nvSpPr>
        <p:spPr>
          <a:xfrm>
            <a:off x="777240" y="5074920"/>
            <a:ext cx="5212080" cy="274320"/>
          </a:xfrm>
          <a:prstGeom prst="rect">
            <a:avLst/>
          </a:prstGeom>
          <a:noFill/>
          <a:ln/>
        </p:spPr>
        <p:txBody>
          <a:bodyPr wrap="square" lIns="0" tIns="0" rIns="0" bIns="0" rtlCol="0" anchor="ctr"/>
          <a:lstStyle/>
          <a:p>
            <a:pPr marL="0" indent="0">
              <a:buNone/>
            </a:pPr>
            <a:r>
              <a:rPr lang="en-US" sz="1300" b="1" dirty="0">
                <a:solidFill>
                  <a:srgbClr val="E2E8F0"/>
                </a:solidFill>
                <a:latin typeface="Calibri" pitchFamily="34" charset="0"/>
                <a:ea typeface="Calibri" pitchFamily="34" charset="-122"/>
                <a:cs typeface="Calibri" pitchFamily="34" charset="-120"/>
              </a:rPr>
              <a:t>Geographic scope</a:t>
            </a:r>
            <a:endParaRPr lang="en-US" sz="1300" dirty="0"/>
          </a:p>
        </p:txBody>
      </p:sp>
      <p:sp>
        <p:nvSpPr>
          <p:cNvPr id="14" name="Text 12"/>
          <p:cNvSpPr/>
          <p:nvPr/>
        </p:nvSpPr>
        <p:spPr>
          <a:xfrm>
            <a:off x="777240" y="5349240"/>
            <a:ext cx="5212080" cy="68580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US-only training; generalization to international plants (where independent monitoring matters most) is untested.</a:t>
            </a:r>
            <a:endParaRPr lang="en-US" sz="1100" dirty="0"/>
          </a:p>
        </p:txBody>
      </p:sp>
      <p:sp>
        <p:nvSpPr>
          <p:cNvPr id="15" name="Shape 13"/>
          <p:cNvSpPr/>
          <p:nvPr/>
        </p:nvSpPr>
        <p:spPr>
          <a:xfrm>
            <a:off x="6492240" y="1463040"/>
            <a:ext cx="5212080" cy="4754880"/>
          </a:xfrm>
          <a:prstGeom prst="rect">
            <a:avLst/>
          </a:prstGeom>
          <a:solidFill>
            <a:srgbClr val="13243A"/>
          </a:solidFill>
          <a:ln w="12700">
            <a:solidFill>
              <a:srgbClr val="13243A"/>
            </a:solidFill>
            <a:prstDash val="solid"/>
          </a:ln>
        </p:spPr>
        <p:txBody>
          <a:bodyPr/>
          <a:lstStyle/>
          <a:p>
            <a:endParaRPr lang="en-US"/>
          </a:p>
        </p:txBody>
      </p:sp>
      <p:sp>
        <p:nvSpPr>
          <p:cNvPr id="16" name="Shape 14"/>
          <p:cNvSpPr/>
          <p:nvPr/>
        </p:nvSpPr>
        <p:spPr>
          <a:xfrm>
            <a:off x="6492240" y="1463040"/>
            <a:ext cx="73152" cy="4754880"/>
          </a:xfrm>
          <a:prstGeom prst="rect">
            <a:avLst/>
          </a:prstGeom>
          <a:solidFill>
            <a:srgbClr val="2DD4BF"/>
          </a:solidFill>
          <a:ln w="12700">
            <a:solidFill>
              <a:srgbClr val="2DD4BF"/>
            </a:solidFill>
            <a:prstDash val="solid"/>
          </a:ln>
        </p:spPr>
        <p:txBody>
          <a:bodyPr/>
          <a:lstStyle/>
          <a:p>
            <a:endParaRPr lang="en-US"/>
          </a:p>
        </p:txBody>
      </p:sp>
      <p:sp>
        <p:nvSpPr>
          <p:cNvPr id="17" name="Text 15"/>
          <p:cNvSpPr/>
          <p:nvPr/>
        </p:nvSpPr>
        <p:spPr>
          <a:xfrm>
            <a:off x="6720840" y="1600200"/>
            <a:ext cx="4846320" cy="274320"/>
          </a:xfrm>
          <a:prstGeom prst="rect">
            <a:avLst/>
          </a:prstGeom>
          <a:noFill/>
          <a:ln/>
        </p:spPr>
        <p:txBody>
          <a:bodyPr wrap="square" lIns="0" tIns="0" rIns="0" bIns="0" rtlCol="0" anchor="ctr"/>
          <a:lstStyle/>
          <a:p>
            <a:pPr marL="0" indent="0">
              <a:buNone/>
            </a:pPr>
            <a:r>
              <a:rPr lang="en-US" sz="1100" b="1" kern="0" spc="300" dirty="0">
                <a:solidFill>
                  <a:srgbClr val="2DD4BF"/>
                </a:solidFill>
                <a:latin typeface="Calibri" pitchFamily="34" charset="0"/>
                <a:ea typeface="Calibri" pitchFamily="34" charset="-122"/>
                <a:cs typeface="Calibri" pitchFamily="34" charset="-120"/>
              </a:rPr>
              <a:t>RECOMMENDED NEXT STEPS</a:t>
            </a:r>
            <a:endParaRPr lang="en-US" sz="1100" dirty="0"/>
          </a:p>
        </p:txBody>
      </p:sp>
      <p:sp>
        <p:nvSpPr>
          <p:cNvPr id="18" name="Text 16"/>
          <p:cNvSpPr/>
          <p:nvPr/>
        </p:nvSpPr>
        <p:spPr>
          <a:xfrm>
            <a:off x="6812280" y="1920240"/>
            <a:ext cx="548640" cy="365760"/>
          </a:xfrm>
          <a:prstGeom prst="rect">
            <a:avLst/>
          </a:prstGeom>
          <a:noFill/>
          <a:ln/>
        </p:spPr>
        <p:txBody>
          <a:bodyPr wrap="square" lIns="0" tIns="0" rIns="0" bIns="0" rtlCol="0" anchor="ctr"/>
          <a:lstStyle/>
          <a:p>
            <a:pPr marL="0" indent="0">
              <a:buNone/>
            </a:pPr>
            <a:r>
              <a:rPr lang="en-US" sz="1600" b="1" dirty="0">
                <a:solidFill>
                  <a:srgbClr val="2DD4BF"/>
                </a:solidFill>
                <a:latin typeface="Georgia" pitchFamily="34" charset="0"/>
                <a:ea typeface="Georgia" pitchFamily="34" charset="-122"/>
                <a:cs typeface="Georgia" pitchFamily="34" charset="-120"/>
              </a:rPr>
              <a:t>01</a:t>
            </a:r>
            <a:endParaRPr lang="en-US" sz="1600" dirty="0"/>
          </a:p>
        </p:txBody>
      </p:sp>
      <p:sp>
        <p:nvSpPr>
          <p:cNvPr id="19" name="Text 17"/>
          <p:cNvSpPr/>
          <p:nvPr/>
        </p:nvSpPr>
        <p:spPr>
          <a:xfrm>
            <a:off x="7406640" y="1920240"/>
            <a:ext cx="4206240" cy="274320"/>
          </a:xfrm>
          <a:prstGeom prst="rect">
            <a:avLst/>
          </a:prstGeom>
          <a:noFill/>
          <a:ln/>
        </p:spPr>
        <p:txBody>
          <a:bodyPr wrap="square" lIns="0" tIns="0" rIns="0" bIns="0" rtlCol="0" anchor="ctr"/>
          <a:lstStyle/>
          <a:p>
            <a:pPr marL="0" indent="0">
              <a:buNone/>
            </a:pPr>
            <a:r>
              <a:rPr lang="en-US" sz="1300" b="1" dirty="0">
                <a:solidFill>
                  <a:srgbClr val="E2E8F0"/>
                </a:solidFill>
                <a:latin typeface="Calibri" pitchFamily="34" charset="0"/>
                <a:ea typeface="Calibri" pitchFamily="34" charset="-122"/>
                <a:cs typeface="Calibri" pitchFamily="34" charset="-120"/>
              </a:rPr>
              <a:t>Upgrade imagery</a:t>
            </a:r>
            <a:endParaRPr lang="en-US" sz="1300" dirty="0"/>
          </a:p>
        </p:txBody>
      </p:sp>
      <p:sp>
        <p:nvSpPr>
          <p:cNvPr id="20" name="Text 18"/>
          <p:cNvSpPr/>
          <p:nvPr/>
        </p:nvSpPr>
        <p:spPr>
          <a:xfrm>
            <a:off x="7406640" y="2194560"/>
            <a:ext cx="4206240" cy="68580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Add NAIP 1m/px for detail and Landsat TIRS thermal bands for heat signatures so it directly targets fossil-fuel confusion.</a:t>
            </a:r>
            <a:endParaRPr lang="en-US" sz="1100" dirty="0"/>
          </a:p>
        </p:txBody>
      </p:sp>
      <p:sp>
        <p:nvSpPr>
          <p:cNvPr id="21" name="Text 19"/>
          <p:cNvSpPr/>
          <p:nvPr/>
        </p:nvSpPr>
        <p:spPr>
          <a:xfrm>
            <a:off x="6812280" y="2971800"/>
            <a:ext cx="548640" cy="365760"/>
          </a:xfrm>
          <a:prstGeom prst="rect">
            <a:avLst/>
          </a:prstGeom>
          <a:noFill/>
          <a:ln/>
        </p:spPr>
        <p:txBody>
          <a:bodyPr wrap="square" lIns="0" tIns="0" rIns="0" bIns="0" rtlCol="0" anchor="ctr"/>
          <a:lstStyle/>
          <a:p>
            <a:pPr marL="0" indent="0">
              <a:buNone/>
            </a:pPr>
            <a:r>
              <a:rPr lang="en-US" sz="1600" b="1" dirty="0">
                <a:solidFill>
                  <a:srgbClr val="2DD4BF"/>
                </a:solidFill>
                <a:latin typeface="Georgia" pitchFamily="34" charset="0"/>
                <a:ea typeface="Georgia" pitchFamily="34" charset="-122"/>
                <a:cs typeface="Georgia" pitchFamily="34" charset="-120"/>
              </a:rPr>
              <a:t>02</a:t>
            </a:r>
            <a:endParaRPr lang="en-US" sz="1600" dirty="0"/>
          </a:p>
        </p:txBody>
      </p:sp>
      <p:sp>
        <p:nvSpPr>
          <p:cNvPr id="22" name="Text 20"/>
          <p:cNvSpPr/>
          <p:nvPr/>
        </p:nvSpPr>
        <p:spPr>
          <a:xfrm>
            <a:off x="7406640" y="2971800"/>
            <a:ext cx="4206240" cy="274320"/>
          </a:xfrm>
          <a:prstGeom prst="rect">
            <a:avLst/>
          </a:prstGeom>
          <a:noFill/>
          <a:ln/>
        </p:spPr>
        <p:txBody>
          <a:bodyPr wrap="square" lIns="0" tIns="0" rIns="0" bIns="0" rtlCol="0" anchor="ctr"/>
          <a:lstStyle/>
          <a:p>
            <a:pPr marL="0" indent="0">
              <a:buNone/>
            </a:pPr>
            <a:r>
              <a:rPr lang="en-US" sz="1300" b="1" dirty="0">
                <a:solidFill>
                  <a:srgbClr val="E2E8F0"/>
                </a:solidFill>
                <a:latin typeface="Calibri" pitchFamily="34" charset="0"/>
                <a:ea typeface="Calibri" pitchFamily="34" charset="-122"/>
                <a:cs typeface="Calibri" pitchFamily="34" charset="-120"/>
              </a:rPr>
              <a:t>Time-align labels</a:t>
            </a:r>
            <a:endParaRPr lang="en-US" sz="1300" dirty="0"/>
          </a:p>
        </p:txBody>
      </p:sp>
      <p:sp>
        <p:nvSpPr>
          <p:cNvPr id="23" name="Text 21"/>
          <p:cNvSpPr/>
          <p:nvPr/>
        </p:nvSpPr>
        <p:spPr>
          <a:xfrm>
            <a:off x="7406640" y="3246120"/>
            <a:ext cx="4206240" cy="68580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Use EPA CAMPD hourly CEMS data matched to image acquisition dates (turns the regression into a true continuous signal).</a:t>
            </a:r>
            <a:endParaRPr lang="en-US" sz="1100" dirty="0"/>
          </a:p>
        </p:txBody>
      </p:sp>
      <p:sp>
        <p:nvSpPr>
          <p:cNvPr id="24" name="Text 22"/>
          <p:cNvSpPr/>
          <p:nvPr/>
        </p:nvSpPr>
        <p:spPr>
          <a:xfrm>
            <a:off x="6812280" y="4023360"/>
            <a:ext cx="548640" cy="365760"/>
          </a:xfrm>
          <a:prstGeom prst="rect">
            <a:avLst/>
          </a:prstGeom>
          <a:noFill/>
          <a:ln/>
        </p:spPr>
        <p:txBody>
          <a:bodyPr wrap="square" lIns="0" tIns="0" rIns="0" bIns="0" rtlCol="0" anchor="ctr"/>
          <a:lstStyle/>
          <a:p>
            <a:pPr marL="0" indent="0">
              <a:buNone/>
            </a:pPr>
            <a:r>
              <a:rPr lang="en-US" sz="1600" b="1" dirty="0">
                <a:solidFill>
                  <a:srgbClr val="2DD4BF"/>
                </a:solidFill>
                <a:latin typeface="Georgia" pitchFamily="34" charset="0"/>
                <a:ea typeface="Georgia" pitchFamily="34" charset="-122"/>
                <a:cs typeface="Georgia" pitchFamily="34" charset="-120"/>
              </a:rPr>
              <a:t>03</a:t>
            </a:r>
            <a:endParaRPr lang="en-US" sz="1600" dirty="0"/>
          </a:p>
        </p:txBody>
      </p:sp>
      <p:sp>
        <p:nvSpPr>
          <p:cNvPr id="25" name="Text 23"/>
          <p:cNvSpPr/>
          <p:nvPr/>
        </p:nvSpPr>
        <p:spPr>
          <a:xfrm>
            <a:off x="7406640" y="4023360"/>
            <a:ext cx="4206240" cy="274320"/>
          </a:xfrm>
          <a:prstGeom prst="rect">
            <a:avLst/>
          </a:prstGeom>
          <a:noFill/>
          <a:ln/>
        </p:spPr>
        <p:txBody>
          <a:bodyPr wrap="square" lIns="0" tIns="0" rIns="0" bIns="0" rtlCol="0" anchor="ctr"/>
          <a:lstStyle/>
          <a:p>
            <a:pPr marL="0" indent="0">
              <a:buNone/>
            </a:pPr>
            <a:r>
              <a:rPr lang="en-US" sz="1300" b="1" dirty="0">
                <a:solidFill>
                  <a:srgbClr val="E2E8F0"/>
                </a:solidFill>
                <a:latin typeface="Calibri" pitchFamily="34" charset="0"/>
                <a:ea typeface="Calibri" pitchFamily="34" charset="-122"/>
                <a:cs typeface="Calibri" pitchFamily="34" charset="-120"/>
              </a:rPr>
              <a:t>Pilot anomaly watchlist</a:t>
            </a:r>
            <a:endParaRPr lang="en-US" sz="1300" dirty="0"/>
          </a:p>
        </p:txBody>
      </p:sp>
      <p:sp>
        <p:nvSpPr>
          <p:cNvPr id="26" name="Text 24"/>
          <p:cNvSpPr/>
          <p:nvPr/>
        </p:nvSpPr>
        <p:spPr>
          <a:xfrm>
            <a:off x="7406640" y="4297680"/>
            <a:ext cx="4206240" cy="68580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Run Task 4 ensemble on flagged plants with a regulatory partner; measure precision of follow-up investigations.</a:t>
            </a:r>
            <a:endParaRPr lang="en-US" sz="1100" dirty="0"/>
          </a:p>
        </p:txBody>
      </p:sp>
      <p:sp>
        <p:nvSpPr>
          <p:cNvPr id="27" name="Text 25"/>
          <p:cNvSpPr/>
          <p:nvPr/>
        </p:nvSpPr>
        <p:spPr>
          <a:xfrm>
            <a:off x="6812280" y="5074920"/>
            <a:ext cx="548640" cy="365760"/>
          </a:xfrm>
          <a:prstGeom prst="rect">
            <a:avLst/>
          </a:prstGeom>
          <a:noFill/>
          <a:ln/>
        </p:spPr>
        <p:txBody>
          <a:bodyPr wrap="square" lIns="0" tIns="0" rIns="0" bIns="0" rtlCol="0" anchor="ctr"/>
          <a:lstStyle/>
          <a:p>
            <a:pPr marL="0" indent="0">
              <a:buNone/>
            </a:pPr>
            <a:r>
              <a:rPr lang="en-US" sz="1600" b="1" dirty="0">
                <a:solidFill>
                  <a:srgbClr val="2DD4BF"/>
                </a:solidFill>
                <a:latin typeface="Georgia" pitchFamily="34" charset="0"/>
                <a:ea typeface="Georgia" pitchFamily="34" charset="-122"/>
                <a:cs typeface="Georgia" pitchFamily="34" charset="-120"/>
              </a:rPr>
              <a:t>04</a:t>
            </a:r>
            <a:endParaRPr lang="en-US" sz="1600" dirty="0"/>
          </a:p>
        </p:txBody>
      </p:sp>
      <p:sp>
        <p:nvSpPr>
          <p:cNvPr id="28" name="Text 26"/>
          <p:cNvSpPr/>
          <p:nvPr/>
        </p:nvSpPr>
        <p:spPr>
          <a:xfrm>
            <a:off x="7406640" y="5074920"/>
            <a:ext cx="4206240" cy="274320"/>
          </a:xfrm>
          <a:prstGeom prst="rect">
            <a:avLst/>
          </a:prstGeom>
          <a:noFill/>
          <a:ln/>
        </p:spPr>
        <p:txBody>
          <a:bodyPr wrap="square" lIns="0" tIns="0" rIns="0" bIns="0" rtlCol="0" anchor="ctr"/>
          <a:lstStyle/>
          <a:p>
            <a:pPr marL="0" indent="0">
              <a:buNone/>
            </a:pPr>
            <a:r>
              <a:rPr lang="en-US" sz="1300" b="1" dirty="0">
                <a:solidFill>
                  <a:srgbClr val="E2E8F0"/>
                </a:solidFill>
                <a:latin typeface="Calibri" pitchFamily="34" charset="0"/>
                <a:ea typeface="Calibri" pitchFamily="34" charset="-122"/>
                <a:cs typeface="Calibri" pitchFamily="34" charset="-120"/>
              </a:rPr>
              <a:t>Generalize globally</a:t>
            </a:r>
            <a:endParaRPr lang="en-US" sz="1300" dirty="0"/>
          </a:p>
        </p:txBody>
      </p:sp>
      <p:sp>
        <p:nvSpPr>
          <p:cNvPr id="29" name="Text 27"/>
          <p:cNvSpPr/>
          <p:nvPr/>
        </p:nvSpPr>
        <p:spPr>
          <a:xfrm>
            <a:off x="7406640" y="5349240"/>
            <a:ext cx="4206240" cy="68580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Extend to WRI Global Power Plant Database and test whether the model holds in jurisdictions with weaker reporting.</a:t>
            </a:r>
            <a:endParaRPr lang="en-US" sz="1100" dirty="0"/>
          </a:p>
        </p:txBody>
      </p:sp>
      <p:sp>
        <p:nvSpPr>
          <p:cNvPr id="30" name="Text 28"/>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Emissions from Above  ·  Scott · Sen · Ronquillo · Rodriguez</a:t>
            </a:r>
            <a:endParaRPr lang="en-US" sz="900" dirty="0"/>
          </a:p>
        </p:txBody>
      </p:sp>
      <p:sp>
        <p:nvSpPr>
          <p:cNvPr id="31" name="Text 29"/>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274320"/>
          </a:xfrm>
          <a:prstGeom prst="rect">
            <a:avLst/>
          </a:prstGeom>
          <a:noFill/>
          <a:ln/>
        </p:spPr>
        <p:txBody>
          <a:bodyPr wrap="square" lIns="0" tIns="0" rIns="0" bIns="0" rtlCol="0" anchor="ctr"/>
          <a:lstStyle/>
          <a:p>
            <a:pPr marL="0" indent="0">
              <a:buNone/>
            </a:pPr>
            <a:r>
              <a:rPr lang="en-US" sz="1000" b="1" kern="0" spc="400" dirty="0">
                <a:solidFill>
                  <a:srgbClr val="2DD4BF"/>
                </a:solidFill>
                <a:latin typeface="Calibri" pitchFamily="34" charset="0"/>
                <a:ea typeface="Calibri" pitchFamily="34" charset="-122"/>
                <a:cs typeface="Calibri" pitchFamily="34" charset="-120"/>
              </a:rPr>
              <a:t>10  ·  BUSINESS IMPACT</a:t>
            </a:r>
            <a:endParaRPr lang="en-US" sz="1000" dirty="0"/>
          </a:p>
        </p:txBody>
      </p:sp>
      <p:sp>
        <p:nvSpPr>
          <p:cNvPr id="3" name="Text 1"/>
          <p:cNvSpPr/>
          <p:nvPr/>
        </p:nvSpPr>
        <p:spPr>
          <a:xfrm>
            <a:off x="457200" y="548640"/>
            <a:ext cx="11247120" cy="777240"/>
          </a:xfrm>
          <a:prstGeom prst="rect">
            <a:avLst/>
          </a:prstGeom>
          <a:noFill/>
          <a:ln/>
        </p:spPr>
        <p:txBody>
          <a:bodyPr wrap="square" lIns="0" tIns="0" rIns="0" bIns="0" rtlCol="0" anchor="t"/>
          <a:lstStyle/>
          <a:p>
            <a:pPr marL="0" indent="0">
              <a:buNone/>
            </a:pPr>
            <a:r>
              <a:rPr lang="en-US" sz="2600" b="1" dirty="0">
                <a:solidFill>
                  <a:srgbClr val="E2E8F0"/>
                </a:solidFill>
                <a:latin typeface="Georgia" pitchFamily="34" charset="0"/>
                <a:ea typeface="Georgia" pitchFamily="34" charset="-122"/>
                <a:cs typeface="Georgia" pitchFamily="34" charset="-120"/>
              </a:rPr>
              <a:t>An independent layer over self-reported data</a:t>
            </a:r>
            <a:endParaRPr lang="en-US" sz="2600" dirty="0"/>
          </a:p>
        </p:txBody>
      </p:sp>
      <p:sp>
        <p:nvSpPr>
          <p:cNvPr id="4" name="Text 2"/>
          <p:cNvSpPr/>
          <p:nvPr/>
        </p:nvSpPr>
        <p:spPr>
          <a:xfrm>
            <a:off x="457200" y="1463040"/>
            <a:ext cx="11247120" cy="1005840"/>
          </a:xfrm>
          <a:prstGeom prst="rect">
            <a:avLst/>
          </a:prstGeom>
          <a:noFill/>
          <a:ln/>
        </p:spPr>
        <p:txBody>
          <a:bodyPr wrap="square" lIns="0" tIns="0" rIns="0" bIns="0" rtlCol="0" anchor="ctr"/>
          <a:lstStyle/>
          <a:p>
            <a:pPr marL="0" indent="0">
              <a:buNone/>
            </a:pPr>
            <a:r>
              <a:rPr lang="en-US" sz="2200" i="1" dirty="0">
                <a:solidFill>
                  <a:srgbClr val="94A3B8"/>
                </a:solidFill>
                <a:latin typeface="Georgia" pitchFamily="34" charset="0"/>
                <a:ea typeface="Georgia" pitchFamily="34" charset="-122"/>
                <a:cs typeface="Georgia" pitchFamily="34" charset="-120"/>
              </a:rPr>
              <a:t>Three of every four </a:t>
            </a:r>
            <a:r>
              <a:rPr lang="en-US" sz="2200" b="1" i="1" dirty="0">
                <a:solidFill>
                  <a:srgbClr val="F59E0B"/>
                </a:solidFill>
                <a:latin typeface="Georgia" pitchFamily="34" charset="0"/>
                <a:ea typeface="Georgia" pitchFamily="34" charset="-122"/>
                <a:cs typeface="Georgia" pitchFamily="34" charset="-120"/>
              </a:rPr>
              <a:t>high-pollution plants </a:t>
            </a:r>
            <a:r>
              <a:rPr lang="en-US" sz="2200" i="1" dirty="0">
                <a:solidFill>
                  <a:srgbClr val="E2E8F0"/>
                </a:solidFill>
                <a:latin typeface="Georgia" pitchFamily="34" charset="0"/>
                <a:ea typeface="Georgia" pitchFamily="34" charset="-122"/>
                <a:cs typeface="Georgia" pitchFamily="34" charset="-120"/>
              </a:rPr>
              <a:t>are correctly flagged. GBT regression achieves R² = 0.946. 71 plants flagged as potential under-reporters.</a:t>
            </a:r>
            <a:endParaRPr lang="en-US" sz="2200" dirty="0"/>
          </a:p>
        </p:txBody>
      </p:sp>
      <p:sp>
        <p:nvSpPr>
          <p:cNvPr id="5" name="Shape 3"/>
          <p:cNvSpPr/>
          <p:nvPr/>
        </p:nvSpPr>
        <p:spPr>
          <a:xfrm>
            <a:off x="457200" y="2743200"/>
            <a:ext cx="3657600" cy="3108960"/>
          </a:xfrm>
          <a:prstGeom prst="rect">
            <a:avLst/>
          </a:prstGeom>
          <a:solidFill>
            <a:srgbClr val="13243A"/>
          </a:solidFill>
          <a:ln w="12700">
            <a:solidFill>
              <a:srgbClr val="13243A"/>
            </a:solidFill>
            <a:prstDash val="solid"/>
          </a:ln>
        </p:spPr>
        <p:txBody>
          <a:bodyPr/>
          <a:lstStyle/>
          <a:p>
            <a:endParaRPr lang="en-US"/>
          </a:p>
        </p:txBody>
      </p:sp>
      <p:sp>
        <p:nvSpPr>
          <p:cNvPr id="6" name="Shape 4"/>
          <p:cNvSpPr/>
          <p:nvPr/>
        </p:nvSpPr>
        <p:spPr>
          <a:xfrm>
            <a:off x="457200" y="2743200"/>
            <a:ext cx="73152" cy="3108960"/>
          </a:xfrm>
          <a:prstGeom prst="rect">
            <a:avLst/>
          </a:prstGeom>
          <a:solidFill>
            <a:srgbClr val="2DD4BF"/>
          </a:solidFill>
          <a:ln w="12700">
            <a:solidFill>
              <a:srgbClr val="2DD4BF"/>
            </a:solidFill>
            <a:prstDash val="solid"/>
          </a:ln>
        </p:spPr>
        <p:txBody>
          <a:bodyPr/>
          <a:lstStyle/>
          <a:p>
            <a:endParaRPr lang="en-US"/>
          </a:p>
        </p:txBody>
      </p:sp>
      <p:sp>
        <p:nvSpPr>
          <p:cNvPr id="7" name="Text 5"/>
          <p:cNvSpPr/>
          <p:nvPr/>
        </p:nvSpPr>
        <p:spPr>
          <a:xfrm>
            <a:off x="685800" y="2971800"/>
            <a:ext cx="3291840" cy="274320"/>
          </a:xfrm>
          <a:prstGeom prst="rect">
            <a:avLst/>
          </a:prstGeom>
          <a:noFill/>
          <a:ln/>
        </p:spPr>
        <p:txBody>
          <a:bodyPr wrap="square" lIns="0" tIns="0" rIns="0" bIns="0" rtlCol="0" anchor="ctr"/>
          <a:lstStyle/>
          <a:p>
            <a:pPr marL="0" indent="0">
              <a:buNone/>
            </a:pPr>
            <a:r>
              <a:rPr lang="en-US" sz="1000" b="1" kern="0" spc="300" dirty="0">
                <a:solidFill>
                  <a:srgbClr val="2DD4BF"/>
                </a:solidFill>
                <a:latin typeface="Calibri" pitchFamily="34" charset="0"/>
                <a:ea typeface="Calibri" pitchFamily="34" charset="-122"/>
                <a:cs typeface="Calibri" pitchFamily="34" charset="-120"/>
              </a:rPr>
              <a:t>REGULATORY OVERSIGHT</a:t>
            </a:r>
            <a:endParaRPr lang="en-US" sz="1000" dirty="0"/>
          </a:p>
        </p:txBody>
      </p:sp>
      <p:sp>
        <p:nvSpPr>
          <p:cNvPr id="8" name="Text 6"/>
          <p:cNvSpPr/>
          <p:nvPr/>
        </p:nvSpPr>
        <p:spPr>
          <a:xfrm>
            <a:off x="685800" y="3291840"/>
            <a:ext cx="3291840" cy="548640"/>
          </a:xfrm>
          <a:prstGeom prst="rect">
            <a:avLst/>
          </a:prstGeom>
          <a:noFill/>
          <a:ln/>
        </p:spPr>
        <p:txBody>
          <a:bodyPr wrap="square" lIns="0" tIns="0" rIns="0" bIns="0" rtlCol="0" anchor="ctr"/>
          <a:lstStyle/>
          <a:p>
            <a:pPr marL="0" indent="0">
              <a:buNone/>
            </a:pPr>
            <a:r>
              <a:rPr lang="en-US" sz="2000" b="1" dirty="0">
                <a:solidFill>
                  <a:srgbClr val="E2E8F0"/>
                </a:solidFill>
                <a:latin typeface="Georgia" pitchFamily="34" charset="0"/>
                <a:ea typeface="Georgia" pitchFamily="34" charset="-122"/>
                <a:cs typeface="Georgia" pitchFamily="34" charset="-120"/>
              </a:rPr>
              <a:t>Independent verification</a:t>
            </a:r>
            <a:endParaRPr lang="en-US" sz="2000" dirty="0"/>
          </a:p>
        </p:txBody>
      </p:sp>
      <p:sp>
        <p:nvSpPr>
          <p:cNvPr id="9" name="Text 7"/>
          <p:cNvSpPr/>
          <p:nvPr/>
        </p:nvSpPr>
        <p:spPr>
          <a:xfrm>
            <a:off x="685800" y="4023360"/>
            <a:ext cx="3291840" cy="169164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Prioritize inspection budgets toward facilities whose satellite signature contradicts their disclosures. Extends EPA enforcement reach without proportional headcount growth.</a:t>
            </a:r>
            <a:endParaRPr lang="en-US" sz="1200" dirty="0"/>
          </a:p>
        </p:txBody>
      </p:sp>
      <p:sp>
        <p:nvSpPr>
          <p:cNvPr id="10" name="Shape 8"/>
          <p:cNvSpPr/>
          <p:nvPr/>
        </p:nvSpPr>
        <p:spPr>
          <a:xfrm>
            <a:off x="4251960" y="2743200"/>
            <a:ext cx="3657600" cy="3108960"/>
          </a:xfrm>
          <a:prstGeom prst="rect">
            <a:avLst/>
          </a:prstGeom>
          <a:solidFill>
            <a:srgbClr val="13243A"/>
          </a:solidFill>
          <a:ln w="12700">
            <a:solidFill>
              <a:srgbClr val="13243A"/>
            </a:solidFill>
            <a:prstDash val="solid"/>
          </a:ln>
        </p:spPr>
        <p:txBody>
          <a:bodyPr/>
          <a:lstStyle/>
          <a:p>
            <a:endParaRPr lang="en-US"/>
          </a:p>
        </p:txBody>
      </p:sp>
      <p:sp>
        <p:nvSpPr>
          <p:cNvPr id="11" name="Shape 9"/>
          <p:cNvSpPr/>
          <p:nvPr/>
        </p:nvSpPr>
        <p:spPr>
          <a:xfrm>
            <a:off x="4251960" y="2743200"/>
            <a:ext cx="73152" cy="3108960"/>
          </a:xfrm>
          <a:prstGeom prst="rect">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4480560" y="2971800"/>
            <a:ext cx="3291840" cy="274320"/>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ESG SCREENING</a:t>
            </a:r>
            <a:endParaRPr lang="en-US" sz="1000" dirty="0"/>
          </a:p>
        </p:txBody>
      </p:sp>
      <p:sp>
        <p:nvSpPr>
          <p:cNvPr id="13" name="Text 11"/>
          <p:cNvSpPr/>
          <p:nvPr/>
        </p:nvSpPr>
        <p:spPr>
          <a:xfrm>
            <a:off x="4480560" y="3291840"/>
            <a:ext cx="3291840" cy="548640"/>
          </a:xfrm>
          <a:prstGeom prst="rect">
            <a:avLst/>
          </a:prstGeom>
          <a:noFill/>
          <a:ln/>
        </p:spPr>
        <p:txBody>
          <a:bodyPr wrap="square" lIns="0" tIns="0" rIns="0" bIns="0" rtlCol="0" anchor="ctr"/>
          <a:lstStyle/>
          <a:p>
            <a:pPr marL="0" indent="0">
              <a:buNone/>
            </a:pPr>
            <a:r>
              <a:rPr lang="en-US" sz="2000" b="1" dirty="0">
                <a:solidFill>
                  <a:srgbClr val="E2E8F0"/>
                </a:solidFill>
                <a:latin typeface="Georgia" pitchFamily="34" charset="0"/>
                <a:ea typeface="Georgia" pitchFamily="34" charset="-122"/>
                <a:cs typeface="Georgia" pitchFamily="34" charset="-120"/>
              </a:rPr>
              <a:t>Disclosure verification</a:t>
            </a:r>
            <a:endParaRPr lang="en-US" sz="2000" dirty="0"/>
          </a:p>
        </p:txBody>
      </p:sp>
      <p:sp>
        <p:nvSpPr>
          <p:cNvPr id="14" name="Text 12"/>
          <p:cNvSpPr/>
          <p:nvPr/>
        </p:nvSpPr>
        <p:spPr>
          <a:xfrm>
            <a:off x="4480560" y="4023360"/>
            <a:ext cx="3291840" cy="169164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Provide investors and ratings agencies an imagery-based signal independent of corporate self-reporting. Surfaces disclosure mismatches before they become reputational events.</a:t>
            </a:r>
            <a:endParaRPr lang="en-US" sz="1200" dirty="0"/>
          </a:p>
        </p:txBody>
      </p:sp>
      <p:sp>
        <p:nvSpPr>
          <p:cNvPr id="15" name="Shape 13"/>
          <p:cNvSpPr/>
          <p:nvPr/>
        </p:nvSpPr>
        <p:spPr>
          <a:xfrm>
            <a:off x="8046720" y="2743200"/>
            <a:ext cx="3657600" cy="3108960"/>
          </a:xfrm>
          <a:prstGeom prst="rect">
            <a:avLst/>
          </a:prstGeom>
          <a:solidFill>
            <a:srgbClr val="13243A"/>
          </a:solidFill>
          <a:ln w="12700">
            <a:solidFill>
              <a:srgbClr val="13243A"/>
            </a:solidFill>
            <a:prstDash val="solid"/>
          </a:ln>
        </p:spPr>
        <p:txBody>
          <a:bodyPr/>
          <a:lstStyle/>
          <a:p>
            <a:endParaRPr lang="en-US"/>
          </a:p>
        </p:txBody>
      </p:sp>
      <p:sp>
        <p:nvSpPr>
          <p:cNvPr id="16" name="Shape 14"/>
          <p:cNvSpPr/>
          <p:nvPr/>
        </p:nvSpPr>
        <p:spPr>
          <a:xfrm>
            <a:off x="8046720" y="2743200"/>
            <a:ext cx="73152" cy="3108960"/>
          </a:xfrm>
          <a:prstGeom prst="rect">
            <a:avLst/>
          </a:prstGeom>
          <a:solidFill>
            <a:srgbClr val="2DD4BF"/>
          </a:solidFill>
          <a:ln w="12700">
            <a:solidFill>
              <a:srgbClr val="2DD4BF"/>
            </a:solidFill>
            <a:prstDash val="solid"/>
          </a:ln>
        </p:spPr>
        <p:txBody>
          <a:bodyPr/>
          <a:lstStyle/>
          <a:p>
            <a:endParaRPr lang="en-US"/>
          </a:p>
        </p:txBody>
      </p:sp>
      <p:sp>
        <p:nvSpPr>
          <p:cNvPr id="17" name="Text 15"/>
          <p:cNvSpPr/>
          <p:nvPr/>
        </p:nvSpPr>
        <p:spPr>
          <a:xfrm>
            <a:off x="8275320" y="2971800"/>
            <a:ext cx="3291840" cy="274320"/>
          </a:xfrm>
          <a:prstGeom prst="rect">
            <a:avLst/>
          </a:prstGeom>
          <a:noFill/>
          <a:ln/>
        </p:spPr>
        <p:txBody>
          <a:bodyPr wrap="square" lIns="0" tIns="0" rIns="0" bIns="0" rtlCol="0" anchor="ctr"/>
          <a:lstStyle/>
          <a:p>
            <a:pPr marL="0" indent="0">
              <a:buNone/>
            </a:pPr>
            <a:r>
              <a:rPr lang="en-US" sz="1000" b="1" kern="0" spc="300" dirty="0">
                <a:solidFill>
                  <a:srgbClr val="2DD4BF"/>
                </a:solidFill>
                <a:latin typeface="Calibri" pitchFamily="34" charset="0"/>
                <a:ea typeface="Calibri" pitchFamily="34" charset="-122"/>
                <a:cs typeface="Calibri" pitchFamily="34" charset="-120"/>
              </a:rPr>
              <a:t>CLIMATE COMPLIANCE</a:t>
            </a:r>
            <a:endParaRPr lang="en-US" sz="1000" dirty="0"/>
          </a:p>
        </p:txBody>
      </p:sp>
      <p:sp>
        <p:nvSpPr>
          <p:cNvPr id="18" name="Text 16"/>
          <p:cNvSpPr/>
          <p:nvPr/>
        </p:nvSpPr>
        <p:spPr>
          <a:xfrm>
            <a:off x="8275320" y="3291840"/>
            <a:ext cx="3291840" cy="548640"/>
          </a:xfrm>
          <a:prstGeom prst="rect">
            <a:avLst/>
          </a:prstGeom>
          <a:noFill/>
          <a:ln/>
        </p:spPr>
        <p:txBody>
          <a:bodyPr wrap="square" lIns="0" tIns="0" rIns="0" bIns="0" rtlCol="0" anchor="ctr"/>
          <a:lstStyle/>
          <a:p>
            <a:pPr marL="0" indent="0">
              <a:buNone/>
            </a:pPr>
            <a:r>
              <a:rPr lang="en-US" sz="2000" b="1" dirty="0">
                <a:solidFill>
                  <a:srgbClr val="E2E8F0"/>
                </a:solidFill>
                <a:latin typeface="Georgia" pitchFamily="34" charset="0"/>
                <a:ea typeface="Georgia" pitchFamily="34" charset="-122"/>
                <a:cs typeface="Georgia" pitchFamily="34" charset="-120"/>
              </a:rPr>
              <a:t>Global coverage</a:t>
            </a:r>
            <a:endParaRPr lang="en-US" sz="2000" dirty="0"/>
          </a:p>
        </p:txBody>
      </p:sp>
      <p:sp>
        <p:nvSpPr>
          <p:cNvPr id="19" name="Text 17"/>
          <p:cNvSpPr/>
          <p:nvPr/>
        </p:nvSpPr>
        <p:spPr>
          <a:xfrm>
            <a:off x="8275320" y="4023360"/>
            <a:ext cx="3291840" cy="169164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Scales to jurisdictions where formal reporting is weak or absent. The same model, retrained on regional imagery, applies anywhere Landsat data exists.</a:t>
            </a:r>
            <a:endParaRPr lang="en-US" sz="1200" dirty="0"/>
          </a:p>
        </p:txBody>
      </p:sp>
      <p:sp>
        <p:nvSpPr>
          <p:cNvPr id="20" name="Shape 18"/>
          <p:cNvSpPr/>
          <p:nvPr/>
        </p:nvSpPr>
        <p:spPr>
          <a:xfrm>
            <a:off x="457200" y="5989320"/>
            <a:ext cx="11247120" cy="457200"/>
          </a:xfrm>
          <a:prstGeom prst="rect">
            <a:avLst/>
          </a:prstGeom>
          <a:solidFill>
            <a:srgbClr val="13243A"/>
          </a:solidFill>
          <a:ln w="12700">
            <a:solidFill>
              <a:srgbClr val="13243A"/>
            </a:solidFill>
            <a:prstDash val="solid"/>
          </a:ln>
        </p:spPr>
        <p:txBody>
          <a:bodyPr/>
          <a:lstStyle/>
          <a:p>
            <a:endParaRPr lang="en-US"/>
          </a:p>
        </p:txBody>
      </p:sp>
      <p:sp>
        <p:nvSpPr>
          <p:cNvPr id="21" name="Shape 19"/>
          <p:cNvSpPr/>
          <p:nvPr/>
        </p:nvSpPr>
        <p:spPr>
          <a:xfrm>
            <a:off x="457200" y="5989320"/>
            <a:ext cx="73152" cy="457200"/>
          </a:xfrm>
          <a:prstGeom prst="rect">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640080" y="6035040"/>
            <a:ext cx="10972800" cy="365760"/>
          </a:xfrm>
          <a:prstGeom prst="rect">
            <a:avLst/>
          </a:prstGeom>
          <a:noFill/>
          <a:ln/>
        </p:spPr>
        <p:txBody>
          <a:bodyPr wrap="square" lIns="0" tIns="0" rIns="0" bIns="0" rtlCol="0" anchor="ctr"/>
          <a:lstStyle/>
          <a:p>
            <a:pPr marL="0" indent="0">
              <a:buNone/>
            </a:pPr>
            <a:r>
              <a:rPr lang="en-US" sz="1200" b="1" kern="0" spc="200" dirty="0">
                <a:solidFill>
                  <a:srgbClr val="F59E0B"/>
                </a:solidFill>
                <a:latin typeface="Calibri" pitchFamily="34" charset="0"/>
                <a:ea typeface="Calibri" pitchFamily="34" charset="-122"/>
                <a:cs typeface="Calibri" pitchFamily="34" charset="-120"/>
              </a:rPr>
              <a:t>RECOMMENDED PILOT   </a:t>
            </a:r>
            <a:r>
              <a:rPr lang="en-US" sz="1200" dirty="0">
                <a:solidFill>
                  <a:srgbClr val="E2E8F0"/>
                </a:solidFill>
                <a:latin typeface="Calibri" pitchFamily="34" charset="0"/>
                <a:ea typeface="Calibri" pitchFamily="34" charset="-122"/>
                <a:cs typeface="Calibri" pitchFamily="34" charset="-120"/>
              </a:rPr>
              <a:t>Start with the 71 Z-score-flagged NUCLEAR and COAL plants in CA and MN. Upgrade CNN input to include Landsat TIRS thermal bands to close the regression gap (R² from 0.199 to target 0.6+). Validate watchlist precision with a regulatory partner before broader deployment.</a:t>
            </a:r>
            <a:endParaRPr lang="en-US" sz="1200" dirty="0"/>
          </a:p>
        </p:txBody>
      </p:sp>
      <p:sp>
        <p:nvSpPr>
          <p:cNvPr id="23" name="Text 21"/>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Emissions from Above  ·  Scott · Sen · Ronquillo · Rodriguez</a:t>
            </a:r>
            <a:endParaRPr lang="en-US" sz="900" dirty="0"/>
          </a:p>
        </p:txBody>
      </p:sp>
      <p:sp>
        <p:nvSpPr>
          <p:cNvPr id="24" name="Text 22"/>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B1929"/>
        </a:solidFill>
        <a:effectLst/>
      </p:bgPr>
    </p:bg>
    <p:spTree>
      <p:nvGrpSpPr>
        <p:cNvPr id="1" name=""/>
        <p:cNvGrpSpPr/>
        <p:nvPr/>
      </p:nvGrpSpPr>
      <p:grpSpPr>
        <a:xfrm>
          <a:off x="0" y="0"/>
          <a:ext cx="0" cy="0"/>
          <a:chOff x="0" y="0"/>
          <a:chExt cx="0" cy="0"/>
        </a:xfrm>
      </p:grpSpPr>
      <p:sp>
        <p:nvSpPr>
          <p:cNvPr id="2" name="Shape 0"/>
          <p:cNvSpPr/>
          <p:nvPr/>
        </p:nvSpPr>
        <p:spPr>
          <a:xfrm>
            <a:off x="-1828800" y="-1828800"/>
            <a:ext cx="3657600" cy="3657600"/>
          </a:xfrm>
          <a:prstGeom prst="ellipse">
            <a:avLst/>
          </a:prstGeom>
          <a:solidFill>
            <a:srgbClr val="0B1929"/>
          </a:solidFill>
          <a:ln w="12700">
            <a:solidFill>
              <a:srgbClr val="2DD4BF">
                <a:alpha val="60000"/>
              </a:srgbClr>
            </a:solidFill>
            <a:prstDash val="solid"/>
          </a:ln>
        </p:spPr>
        <p:txBody>
          <a:bodyPr/>
          <a:lstStyle/>
          <a:p>
            <a:endParaRPr lang="en-US"/>
          </a:p>
        </p:txBody>
      </p:sp>
      <p:sp>
        <p:nvSpPr>
          <p:cNvPr id="3" name="Shape 1"/>
          <p:cNvSpPr/>
          <p:nvPr/>
        </p:nvSpPr>
        <p:spPr>
          <a:xfrm>
            <a:off x="-2743200" y="-2743200"/>
            <a:ext cx="5486400" cy="5486400"/>
          </a:xfrm>
          <a:prstGeom prst="ellipse">
            <a:avLst/>
          </a:prstGeom>
          <a:solidFill>
            <a:srgbClr val="0B1929"/>
          </a:solidFill>
          <a:ln w="12700">
            <a:solidFill>
              <a:srgbClr val="2DD4BF">
                <a:alpha val="48000"/>
              </a:srgbClr>
            </a:solidFill>
            <a:prstDash val="solid"/>
          </a:ln>
        </p:spPr>
        <p:txBody>
          <a:bodyPr/>
          <a:lstStyle/>
          <a:p>
            <a:endParaRPr lang="en-US"/>
          </a:p>
        </p:txBody>
      </p:sp>
      <p:sp>
        <p:nvSpPr>
          <p:cNvPr id="4" name="Shape 2"/>
          <p:cNvSpPr/>
          <p:nvPr/>
        </p:nvSpPr>
        <p:spPr>
          <a:xfrm>
            <a:off x="-3657600" y="-3657600"/>
            <a:ext cx="7315200" cy="7315200"/>
          </a:xfrm>
          <a:prstGeom prst="ellipse">
            <a:avLst/>
          </a:prstGeom>
          <a:solidFill>
            <a:srgbClr val="0B1929"/>
          </a:solidFill>
          <a:ln w="12700">
            <a:solidFill>
              <a:srgbClr val="2DD4BF">
                <a:alpha val="36000"/>
              </a:srgbClr>
            </a:solidFill>
            <a:prstDash val="solid"/>
          </a:ln>
        </p:spPr>
        <p:txBody>
          <a:bodyPr/>
          <a:lstStyle/>
          <a:p>
            <a:endParaRPr lang="en-US"/>
          </a:p>
        </p:txBody>
      </p:sp>
      <p:sp>
        <p:nvSpPr>
          <p:cNvPr id="5" name="Shape 3"/>
          <p:cNvSpPr/>
          <p:nvPr/>
        </p:nvSpPr>
        <p:spPr>
          <a:xfrm>
            <a:off x="-4572000" y="-4572000"/>
            <a:ext cx="9144000" cy="9144000"/>
          </a:xfrm>
          <a:prstGeom prst="ellipse">
            <a:avLst/>
          </a:prstGeom>
          <a:solidFill>
            <a:srgbClr val="0B1929"/>
          </a:solidFill>
          <a:ln w="12700">
            <a:solidFill>
              <a:srgbClr val="2DD4BF">
                <a:alpha val="24000"/>
              </a:srgbClr>
            </a:solidFill>
            <a:prstDash val="solid"/>
          </a:ln>
        </p:spPr>
        <p:txBody>
          <a:bodyPr/>
          <a:lstStyle/>
          <a:p>
            <a:endParaRPr lang="en-US"/>
          </a:p>
        </p:txBody>
      </p:sp>
      <p:sp>
        <p:nvSpPr>
          <p:cNvPr id="6" name="Text 4"/>
          <p:cNvSpPr/>
          <p:nvPr/>
        </p:nvSpPr>
        <p:spPr>
          <a:xfrm>
            <a:off x="640080" y="1463040"/>
            <a:ext cx="9144000" cy="365760"/>
          </a:xfrm>
          <a:prstGeom prst="rect">
            <a:avLst/>
          </a:prstGeom>
          <a:noFill/>
          <a:ln/>
        </p:spPr>
        <p:txBody>
          <a:bodyPr wrap="square" lIns="0" tIns="0" rIns="0" bIns="0" rtlCol="0" anchor="ctr"/>
          <a:lstStyle/>
          <a:p>
            <a:pPr marL="0" indent="0">
              <a:buNone/>
            </a:pPr>
            <a:r>
              <a:rPr lang="en-US" sz="1200" b="1" kern="0" spc="500" dirty="0">
                <a:solidFill>
                  <a:srgbClr val="2DD4BF"/>
                </a:solidFill>
                <a:latin typeface="Calibri" pitchFamily="34" charset="0"/>
                <a:ea typeface="Calibri" pitchFamily="34" charset="-122"/>
                <a:cs typeface="Calibri" pitchFamily="34" charset="-120"/>
              </a:rPr>
              <a:t>CLOSING</a:t>
            </a:r>
            <a:endParaRPr lang="en-US" sz="1200" dirty="0"/>
          </a:p>
        </p:txBody>
      </p:sp>
      <p:sp>
        <p:nvSpPr>
          <p:cNvPr id="7" name="Text 5"/>
          <p:cNvSpPr/>
          <p:nvPr/>
        </p:nvSpPr>
        <p:spPr>
          <a:xfrm>
            <a:off x="640080" y="1920240"/>
            <a:ext cx="10972800" cy="1280160"/>
          </a:xfrm>
          <a:prstGeom prst="rect">
            <a:avLst/>
          </a:prstGeom>
          <a:noFill/>
          <a:ln/>
        </p:spPr>
        <p:txBody>
          <a:bodyPr wrap="square" lIns="0" tIns="0" rIns="0" bIns="0" rtlCol="0" anchor="ctr"/>
          <a:lstStyle/>
          <a:p>
            <a:pPr marL="0" indent="0">
              <a:buNone/>
            </a:pPr>
            <a:r>
              <a:rPr lang="en-US" sz="4400" b="1" dirty="0">
                <a:solidFill>
                  <a:srgbClr val="E2E8F0"/>
                </a:solidFill>
                <a:latin typeface="Georgia" pitchFamily="34" charset="0"/>
                <a:ea typeface="Georgia" pitchFamily="34" charset="-122"/>
                <a:cs typeface="Georgia" pitchFamily="34" charset="-120"/>
              </a:rPr>
              <a:t>Satellites can see what plants won't say.</a:t>
            </a:r>
            <a:endParaRPr lang="en-US" sz="4400" dirty="0"/>
          </a:p>
        </p:txBody>
      </p:sp>
      <p:sp>
        <p:nvSpPr>
          <p:cNvPr id="8" name="Shape 6"/>
          <p:cNvSpPr/>
          <p:nvPr/>
        </p:nvSpPr>
        <p:spPr>
          <a:xfrm>
            <a:off x="640080" y="3840480"/>
            <a:ext cx="73152" cy="1371600"/>
          </a:xfrm>
          <a:prstGeom prst="rect">
            <a:avLst/>
          </a:prstGeom>
          <a:solidFill>
            <a:srgbClr val="F59E0B"/>
          </a:solidFill>
          <a:ln w="12700">
            <a:solidFill>
              <a:srgbClr val="F59E0B"/>
            </a:solidFill>
            <a:prstDash val="solid"/>
          </a:ln>
        </p:spPr>
        <p:txBody>
          <a:bodyPr/>
          <a:lstStyle/>
          <a:p>
            <a:endParaRPr lang="en-US"/>
          </a:p>
        </p:txBody>
      </p:sp>
      <p:sp>
        <p:nvSpPr>
          <p:cNvPr id="50" name="acc50"/>
          <p:cNvSpPr/>
          <p:nvPr/>
        </p:nvSpPr>
        <p:spPr>
          <a:xfrm>
            <a:off x="457200" y="3657600"/>
            <a:ext cx="73152" cy="1371600"/>
          </a:xfrm>
          <a:prstGeom prst="rect">
            <a:avLst/>
          </a:prstGeom>
          <a:solidFill>
            <a:srgbClr val="2DD4BF"/>
          </a:solidFill>
          <a:ln w="12700">
            <a:solidFill>
              <a:srgbClr val="2DD4BF"/>
            </a:solidFill>
          </a:ln>
        </p:spPr>
        <p:txBody>
          <a:bodyPr/>
          <a:lstStyle/>
          <a:p>
            <a:endParaRPr lang="en-US"/>
          </a:p>
        </p:txBody>
      </p:sp>
      <p:sp>
        <p:nvSpPr>
          <p:cNvPr id="51" name="val50"/>
          <p:cNvSpPr/>
          <p:nvPr/>
        </p:nvSpPr>
        <p:spPr>
          <a:xfrm>
            <a:off x="576072" y="3657600"/>
            <a:ext cx="2101272" cy="640080"/>
          </a:xfrm>
          <a:prstGeom prst="rect">
            <a:avLst/>
          </a:prstGeom>
          <a:noFill/>
          <a:ln/>
        </p:spPr>
        <p:txBody>
          <a:bodyPr wrap="square" lIns="0" tIns="0" rIns="0" bIns="0" rtlCol="0" anchor="ctr"/>
          <a:lstStyle/>
          <a:p>
            <a:pPr marL="0" indent="0">
              <a:buNone/>
            </a:pPr>
            <a:r>
              <a:rPr lang="en-US" sz="3800" b="1" dirty="0">
                <a:solidFill>
                  <a:srgbClr val="2DD4BF"/>
                </a:solidFill>
                <a:latin typeface="Georgia" pitchFamily="34" charset="0"/>
              </a:rPr>
              <a:t>0.866</a:t>
            </a:r>
          </a:p>
        </p:txBody>
      </p:sp>
      <p:sp>
        <p:nvSpPr>
          <p:cNvPr id="52" name="lbl50"/>
          <p:cNvSpPr/>
          <p:nvPr/>
        </p:nvSpPr>
        <p:spPr>
          <a:xfrm>
            <a:off x="576072" y="4343400"/>
            <a:ext cx="2101272" cy="54864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rPr>
              <a:t>Task 1 AUC-ROC</a:t>
            </a:r>
          </a:p>
        </p:txBody>
      </p:sp>
      <p:sp>
        <p:nvSpPr>
          <p:cNvPr id="53" name="acc53"/>
          <p:cNvSpPr/>
          <p:nvPr/>
        </p:nvSpPr>
        <p:spPr>
          <a:xfrm>
            <a:off x="2706624" y="3657600"/>
            <a:ext cx="73152" cy="1371600"/>
          </a:xfrm>
          <a:prstGeom prst="rect">
            <a:avLst/>
          </a:prstGeom>
          <a:solidFill>
            <a:srgbClr val="F59E0B"/>
          </a:solidFill>
          <a:ln w="12700">
            <a:solidFill>
              <a:srgbClr val="F59E0B"/>
            </a:solidFill>
          </a:ln>
        </p:spPr>
        <p:txBody>
          <a:bodyPr/>
          <a:lstStyle/>
          <a:p>
            <a:endParaRPr lang="en-US"/>
          </a:p>
        </p:txBody>
      </p:sp>
      <p:sp>
        <p:nvSpPr>
          <p:cNvPr id="54" name="val53"/>
          <p:cNvSpPr/>
          <p:nvPr/>
        </p:nvSpPr>
        <p:spPr>
          <a:xfrm>
            <a:off x="2825496" y="3657600"/>
            <a:ext cx="2101272" cy="640080"/>
          </a:xfrm>
          <a:prstGeom prst="rect">
            <a:avLst/>
          </a:prstGeom>
          <a:noFill/>
          <a:ln/>
        </p:spPr>
        <p:txBody>
          <a:bodyPr wrap="square" lIns="0" tIns="0" rIns="0" bIns="0" rtlCol="0" anchor="ctr"/>
          <a:lstStyle/>
          <a:p>
            <a:pPr marL="0" indent="0">
              <a:buNone/>
            </a:pPr>
            <a:r>
              <a:rPr lang="en-US" sz="3800" b="1" dirty="0">
                <a:solidFill>
                  <a:srgbClr val="F59E0B"/>
                </a:solidFill>
                <a:latin typeface="Georgia" pitchFamily="34" charset="0"/>
              </a:rPr>
              <a:t>39.5%</a:t>
            </a:r>
          </a:p>
        </p:txBody>
      </p:sp>
      <p:sp>
        <p:nvSpPr>
          <p:cNvPr id="55" name="lbl53"/>
          <p:cNvSpPr/>
          <p:nvPr/>
        </p:nvSpPr>
        <p:spPr>
          <a:xfrm>
            <a:off x="2825496" y="4343400"/>
            <a:ext cx="2101272" cy="54864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rPr>
              <a:t>Task 2 overall accuracy</a:t>
            </a:r>
          </a:p>
        </p:txBody>
      </p:sp>
      <p:sp>
        <p:nvSpPr>
          <p:cNvPr id="56" name="acc56"/>
          <p:cNvSpPr/>
          <p:nvPr/>
        </p:nvSpPr>
        <p:spPr>
          <a:xfrm>
            <a:off x="4956048" y="3657600"/>
            <a:ext cx="73152" cy="1371600"/>
          </a:xfrm>
          <a:prstGeom prst="rect">
            <a:avLst/>
          </a:prstGeom>
          <a:solidFill>
            <a:srgbClr val="2DD4BF"/>
          </a:solidFill>
          <a:ln w="12700">
            <a:solidFill>
              <a:srgbClr val="2DD4BF"/>
            </a:solidFill>
          </a:ln>
        </p:spPr>
        <p:txBody>
          <a:bodyPr/>
          <a:lstStyle/>
          <a:p>
            <a:endParaRPr lang="en-US"/>
          </a:p>
        </p:txBody>
      </p:sp>
      <p:sp>
        <p:nvSpPr>
          <p:cNvPr id="57" name="val56"/>
          <p:cNvSpPr/>
          <p:nvPr/>
        </p:nvSpPr>
        <p:spPr>
          <a:xfrm>
            <a:off x="5074920" y="3657600"/>
            <a:ext cx="2101272" cy="640080"/>
          </a:xfrm>
          <a:prstGeom prst="rect">
            <a:avLst/>
          </a:prstGeom>
          <a:noFill/>
          <a:ln/>
        </p:spPr>
        <p:txBody>
          <a:bodyPr wrap="square" lIns="0" tIns="0" rIns="0" bIns="0" rtlCol="0" anchor="ctr"/>
          <a:lstStyle/>
          <a:p>
            <a:pPr marL="0" indent="0">
              <a:buNone/>
            </a:pPr>
            <a:r>
              <a:rPr lang="en-US" sz="3800" b="1" dirty="0">
                <a:solidFill>
                  <a:srgbClr val="2DD4BF"/>
                </a:solidFill>
                <a:latin typeface="Georgia" pitchFamily="34" charset="0"/>
              </a:rPr>
              <a:t>0.946</a:t>
            </a:r>
          </a:p>
        </p:txBody>
      </p:sp>
      <p:sp>
        <p:nvSpPr>
          <p:cNvPr id="58" name="lbl56"/>
          <p:cNvSpPr/>
          <p:nvPr/>
        </p:nvSpPr>
        <p:spPr>
          <a:xfrm>
            <a:off x="5074920" y="4343400"/>
            <a:ext cx="2101272" cy="54864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rPr>
              <a:t>Task 3 GBT R²</a:t>
            </a:r>
          </a:p>
        </p:txBody>
      </p:sp>
      <p:sp>
        <p:nvSpPr>
          <p:cNvPr id="59" name="acc59"/>
          <p:cNvSpPr/>
          <p:nvPr/>
        </p:nvSpPr>
        <p:spPr>
          <a:xfrm>
            <a:off x="7205472" y="3657600"/>
            <a:ext cx="73152" cy="1371600"/>
          </a:xfrm>
          <a:prstGeom prst="rect">
            <a:avLst/>
          </a:prstGeom>
          <a:solidFill>
            <a:srgbClr val="F59E0B"/>
          </a:solidFill>
          <a:ln w="12700">
            <a:solidFill>
              <a:srgbClr val="F59E0B"/>
            </a:solidFill>
          </a:ln>
        </p:spPr>
        <p:txBody>
          <a:bodyPr/>
          <a:lstStyle/>
          <a:p>
            <a:endParaRPr lang="en-US"/>
          </a:p>
        </p:txBody>
      </p:sp>
      <p:sp>
        <p:nvSpPr>
          <p:cNvPr id="60" name="val59"/>
          <p:cNvSpPr/>
          <p:nvPr/>
        </p:nvSpPr>
        <p:spPr>
          <a:xfrm>
            <a:off x="7324344" y="3657600"/>
            <a:ext cx="2101272" cy="640080"/>
          </a:xfrm>
          <a:prstGeom prst="rect">
            <a:avLst/>
          </a:prstGeom>
          <a:noFill/>
          <a:ln/>
        </p:spPr>
        <p:txBody>
          <a:bodyPr wrap="square" lIns="0" tIns="0" rIns="0" bIns="0" rtlCol="0" anchor="ctr"/>
          <a:lstStyle/>
          <a:p>
            <a:pPr marL="0" indent="0">
              <a:buNone/>
            </a:pPr>
            <a:r>
              <a:rPr lang="en-US" sz="3800" b="1" dirty="0">
                <a:solidFill>
                  <a:srgbClr val="F59E0B"/>
                </a:solidFill>
                <a:latin typeface="Georgia" pitchFamily="34" charset="0"/>
              </a:rPr>
              <a:t>71</a:t>
            </a:r>
          </a:p>
        </p:txBody>
      </p:sp>
      <p:sp>
        <p:nvSpPr>
          <p:cNvPr id="61" name="lbl59"/>
          <p:cNvSpPr/>
          <p:nvPr/>
        </p:nvSpPr>
        <p:spPr>
          <a:xfrm>
            <a:off x="7324344" y="4343400"/>
            <a:ext cx="2101272" cy="54864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rPr>
              <a:t>Task 4 plants flagged</a:t>
            </a:r>
          </a:p>
        </p:txBody>
      </p:sp>
      <p:sp>
        <p:nvSpPr>
          <p:cNvPr id="62" name="acc62"/>
          <p:cNvSpPr/>
          <p:nvPr/>
        </p:nvSpPr>
        <p:spPr>
          <a:xfrm>
            <a:off x="9454896" y="3657600"/>
            <a:ext cx="73152" cy="1371600"/>
          </a:xfrm>
          <a:prstGeom prst="rect">
            <a:avLst/>
          </a:prstGeom>
          <a:solidFill>
            <a:srgbClr val="2DD4BF"/>
          </a:solidFill>
          <a:ln w="12700">
            <a:solidFill>
              <a:srgbClr val="2DD4BF"/>
            </a:solidFill>
          </a:ln>
        </p:spPr>
        <p:txBody>
          <a:bodyPr/>
          <a:lstStyle/>
          <a:p>
            <a:endParaRPr lang="en-US"/>
          </a:p>
        </p:txBody>
      </p:sp>
      <p:sp>
        <p:nvSpPr>
          <p:cNvPr id="63" name="val62"/>
          <p:cNvSpPr/>
          <p:nvPr/>
        </p:nvSpPr>
        <p:spPr>
          <a:xfrm>
            <a:off x="9573768" y="3657600"/>
            <a:ext cx="2101272" cy="640080"/>
          </a:xfrm>
          <a:prstGeom prst="rect">
            <a:avLst/>
          </a:prstGeom>
          <a:noFill/>
          <a:ln/>
        </p:spPr>
        <p:txBody>
          <a:bodyPr wrap="square" lIns="0" tIns="0" rIns="0" bIns="0" rtlCol="0" anchor="ctr"/>
          <a:lstStyle/>
          <a:p>
            <a:pPr marL="0" indent="0">
              <a:buNone/>
            </a:pPr>
            <a:r>
              <a:rPr lang="en-US" sz="3800" b="1" dirty="0">
                <a:solidFill>
                  <a:srgbClr val="2DD4BF"/>
                </a:solidFill>
                <a:latin typeface="Georgia" pitchFamily="34" charset="0"/>
              </a:rPr>
              <a:t>3 of 4</a:t>
            </a:r>
          </a:p>
        </p:txBody>
      </p:sp>
      <p:sp>
        <p:nvSpPr>
          <p:cNvPr id="64" name="lbl62"/>
          <p:cNvSpPr/>
          <p:nvPr/>
        </p:nvSpPr>
        <p:spPr>
          <a:xfrm>
            <a:off x="9573768" y="4343400"/>
            <a:ext cx="2101272" cy="54864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rPr>
              <a:t>High-emitters caught</a:t>
            </a:r>
          </a:p>
        </p:txBody>
      </p:sp>
      <p:sp>
        <p:nvSpPr>
          <p:cNvPr id="17" name="Text 15"/>
          <p:cNvSpPr/>
          <p:nvPr/>
        </p:nvSpPr>
        <p:spPr>
          <a:xfrm>
            <a:off x="640080" y="5669280"/>
            <a:ext cx="10972800" cy="548640"/>
          </a:xfrm>
          <a:prstGeom prst="rect">
            <a:avLst/>
          </a:prstGeom>
          <a:noFill/>
          <a:ln/>
        </p:spPr>
        <p:txBody>
          <a:bodyPr wrap="square" lIns="0" tIns="0" rIns="0" bIns="0" rtlCol="0" anchor="ctr"/>
          <a:lstStyle/>
          <a:p>
            <a:pPr marL="0" indent="0">
              <a:buNone/>
            </a:pPr>
            <a:r>
              <a:rPr lang="en-US" sz="2200" i="1" dirty="0">
                <a:solidFill>
                  <a:srgbClr val="2DD4BF"/>
                </a:solidFill>
                <a:latin typeface="Georgia" pitchFamily="34" charset="0"/>
                <a:ea typeface="Georgia" pitchFamily="34" charset="-122"/>
                <a:cs typeface="Georgia" pitchFamily="34" charset="-120"/>
              </a:rPr>
              <a:t>Questions?</a:t>
            </a:r>
            <a:endParaRPr lang="en-US" sz="2200" dirty="0"/>
          </a:p>
        </p:txBody>
      </p:sp>
      <p:sp>
        <p:nvSpPr>
          <p:cNvPr id="18" name="Text 16"/>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Emissions from Above  ·  Scott · Sen · Ronquillo · Rodriguez</a:t>
            </a:r>
            <a:endParaRPr lang="en-US" sz="900" dirty="0"/>
          </a:p>
        </p:txBody>
      </p:sp>
      <p:sp>
        <p:nvSpPr>
          <p:cNvPr id="19" name="Text 17"/>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2255</Words>
  <Application>Microsoft Macintosh PowerPoint</Application>
  <PresentationFormat>Widescreen</PresentationFormat>
  <Paragraphs>231</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Emissions from Above</dc:title>
  <dc:subject>PptxGenJS Presentation</dc:subject>
  <dc:creator>Rob Scott, Ananya Sen, Mateo Ronquillo, Efrain Rodriguez</dc:creator>
  <cp:lastModifiedBy>Efrain Rodriguez</cp:lastModifiedBy>
  <cp:revision>5</cp:revision>
  <dcterms:created xsi:type="dcterms:W3CDTF">2026-05-24T22:08:45Z</dcterms:created>
  <dcterms:modified xsi:type="dcterms:W3CDTF">2026-05-28T18:59:25Z</dcterms:modified>
</cp:coreProperties>
</file>